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87" r:id="rId1"/>
    <p:sldMasterId id="2147484175" r:id="rId2"/>
  </p:sldMasterIdLst>
  <p:notesMasterIdLst>
    <p:notesMasterId r:id="rId22"/>
  </p:notesMasterIdLst>
  <p:handoutMasterIdLst>
    <p:handoutMasterId r:id="rId23"/>
  </p:handoutMasterIdLst>
  <p:sldIdLst>
    <p:sldId id="325" r:id="rId3"/>
    <p:sldId id="361" r:id="rId4"/>
    <p:sldId id="352" r:id="rId5"/>
    <p:sldId id="356" r:id="rId6"/>
    <p:sldId id="416" r:id="rId7"/>
    <p:sldId id="417" r:id="rId8"/>
    <p:sldId id="353" r:id="rId9"/>
    <p:sldId id="358" r:id="rId10"/>
    <p:sldId id="421" r:id="rId11"/>
    <p:sldId id="422" r:id="rId12"/>
    <p:sldId id="359" r:id="rId13"/>
    <p:sldId id="424" r:id="rId14"/>
    <p:sldId id="423" r:id="rId15"/>
    <p:sldId id="419" r:id="rId16"/>
    <p:sldId id="425" r:id="rId17"/>
    <p:sldId id="418" r:id="rId18"/>
    <p:sldId id="420" r:id="rId19"/>
    <p:sldId id="351" r:id="rId20"/>
    <p:sldId id="426" r:id="rId21"/>
  </p:sldIdLst>
  <p:sldSz cx="6858000" cy="51435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32">
          <p15:clr>
            <a:srgbClr val="A4A3A4"/>
          </p15:clr>
        </p15:guide>
        <p15:guide id="2" pos="214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1589C"/>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68" autoAdjust="0"/>
    <p:restoredTop sz="86608" autoAdjust="0"/>
  </p:normalViewPr>
  <p:slideViewPr>
    <p:cSldViewPr>
      <p:cViewPr varScale="1">
        <p:scale>
          <a:sx n="98" d="100"/>
          <a:sy n="98" d="100"/>
        </p:scale>
        <p:origin x="1642" y="82"/>
      </p:cViewPr>
      <p:guideLst>
        <p:guide orient="horz" pos="1732"/>
        <p:guide pos="214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EB13FE3-5822-4112-B719-761AE56641B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DC0574B1-40E3-4FE9-AF36-789A13FE92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9BCAE6-7EDD-4610-829D-072DE2F62681}" type="datetimeFigureOut">
              <a:rPr lang="zh-CN" altLang="en-US" smtClean="0"/>
              <a:t>2020/12/13 Sunday</a:t>
            </a:fld>
            <a:endParaRPr lang="zh-CN" altLang="en-US"/>
          </a:p>
        </p:txBody>
      </p:sp>
      <p:sp>
        <p:nvSpPr>
          <p:cNvPr id="4" name="页脚占位符 3">
            <a:extLst>
              <a:ext uri="{FF2B5EF4-FFF2-40B4-BE49-F238E27FC236}">
                <a16:creationId xmlns:a16="http://schemas.microsoft.com/office/drawing/2014/main" id="{CB610F08-483A-4EB2-9CFC-31BF983705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0D45B719-410C-486B-8A49-AB2616BDB7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06C2C4-E208-43B2-BABD-7B88F0A041C2}" type="slidenum">
              <a:rPr lang="zh-CN" altLang="en-US" smtClean="0"/>
              <a:t>‹#›</a:t>
            </a:fld>
            <a:endParaRPr lang="zh-CN" altLang="en-US"/>
          </a:p>
        </p:txBody>
      </p:sp>
    </p:spTree>
    <p:extLst>
      <p:ext uri="{BB962C8B-B14F-4D97-AF65-F5344CB8AC3E}">
        <p14:creationId xmlns:p14="http://schemas.microsoft.com/office/powerpoint/2010/main" val="397924132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buFontTx/>
              <a:buNone/>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buFontTx/>
              <a:buNone/>
              <a:defRPr sz="1200">
                <a:latin typeface="+mn-lt"/>
                <a:ea typeface="+mn-ea"/>
              </a:defRPr>
            </a:lvl1pPr>
          </a:lstStyle>
          <a:p>
            <a:pPr>
              <a:defRPr/>
            </a:pPr>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buFontTx/>
              <a:buNone/>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latin typeface="Calibri" panose="020F0502020204030204" pitchFamily="34" charset="0"/>
              </a:defRPr>
            </a:lvl1pPr>
          </a:lstStyle>
          <a:p>
            <a:pPr>
              <a:defRPr/>
            </a:pPr>
            <a:fld id="{A097BE82-0FFB-4162-A5AB-14F4C83FB9A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SybilGuard</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SybilLimit</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算法在检测精度上差别不大，而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SybilLImit</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检测时间短于前者。在集中式网络中三种算法的检测精度差不多，但对于分布式网络</a:t>
            </a:r>
            <a:r>
              <a:rPr lang="en-US" altLang="zh-CN" sz="1800" i="1" kern="100" dirty="0">
                <a:effectLst/>
                <a:latin typeface="宋体" panose="02010600030101010101" pitchFamily="2" charset="-122"/>
                <a:ea typeface="宋体" panose="02010600030101010101" pitchFamily="2" charset="-122"/>
                <a:cs typeface="Times New Roman" panose="02020603050405020304" pitchFamily="18" charset="0"/>
              </a:rPr>
              <a:t>American75</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来说，</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SybilRank</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算法的检测精度更高。</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由于高排名诚实节点分布不均，在检测方面也会耗费较多的资源，所以检测时间比之于种子节点攻击更长</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由于协同攻击时各攻击节点可以互相通信“合谋”，这就为女巫节点的检测增加了难度。它在实验数据上体现为检测时间整体偏长、检测精度整体偏低。</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29967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基于节点行为的检测算法在精度差别不大的情况下很明显地缩短了运行时间。</a:t>
            </a:r>
            <a:endParaRPr lang="zh-CN" altLang="en-US" dirty="0"/>
          </a:p>
        </p:txBody>
      </p:sp>
    </p:spTree>
    <p:extLst>
      <p:ext uri="{BB962C8B-B14F-4D97-AF65-F5344CB8AC3E}">
        <p14:creationId xmlns:p14="http://schemas.microsoft.com/office/powerpoint/2010/main" val="26557629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流程图: 过程 1"/>
          <p:cNvSpPr/>
          <p:nvPr userDrawn="1"/>
        </p:nvSpPr>
        <p:spPr>
          <a:xfrm rot="5400000">
            <a:off x="3364706" y="1650207"/>
            <a:ext cx="128587" cy="6858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 name="流程图: 过程 8"/>
          <p:cNvSpPr/>
          <p:nvPr userDrawn="1"/>
        </p:nvSpPr>
        <p:spPr>
          <a:xfrm rot="5400000" flipH="1">
            <a:off x="6138068" y="4387057"/>
            <a:ext cx="246063" cy="11938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9474 w 10000"/>
              <a:gd name="connsiteY2" fmla="*/ 9062 h 10000"/>
              <a:gd name="connsiteX3" fmla="*/ 0 w 10000"/>
              <a:gd name="connsiteY3" fmla="*/ 10000 h 10000"/>
              <a:gd name="connsiteX4" fmla="*/ 0 w 10000"/>
              <a:gd name="connsiteY4" fmla="*/ 0 h 10000"/>
              <a:gd name="connsiteX0" fmla="*/ 0 w 10075"/>
              <a:gd name="connsiteY0" fmla="*/ 0 h 10000"/>
              <a:gd name="connsiteX1" fmla="*/ 10000 w 10075"/>
              <a:gd name="connsiteY1" fmla="*/ 0 h 10000"/>
              <a:gd name="connsiteX2" fmla="*/ 10028 w 10075"/>
              <a:gd name="connsiteY2" fmla="*/ 8891 h 10000"/>
              <a:gd name="connsiteX3" fmla="*/ 0 w 10075"/>
              <a:gd name="connsiteY3" fmla="*/ 10000 h 10000"/>
              <a:gd name="connsiteX4" fmla="*/ 0 w 10075"/>
              <a:gd name="connsiteY4" fmla="*/ 0 h 10000"/>
              <a:gd name="connsiteX0" fmla="*/ 0 w 10335"/>
              <a:gd name="connsiteY0" fmla="*/ 0 h 10000"/>
              <a:gd name="connsiteX1" fmla="*/ 10000 w 10335"/>
              <a:gd name="connsiteY1" fmla="*/ 0 h 10000"/>
              <a:gd name="connsiteX2" fmla="*/ 10305 w 10335"/>
              <a:gd name="connsiteY2" fmla="*/ 8891 h 10000"/>
              <a:gd name="connsiteX3" fmla="*/ 0 w 10335"/>
              <a:gd name="connsiteY3" fmla="*/ 10000 h 10000"/>
              <a:gd name="connsiteX4" fmla="*/ 0 w 10335"/>
              <a:gd name="connsiteY4" fmla="*/ 0 h 10000"/>
              <a:gd name="connsiteX0" fmla="*/ 0 w 10000"/>
              <a:gd name="connsiteY0" fmla="*/ 0 h 10000"/>
              <a:gd name="connsiteX1" fmla="*/ 10000 w 10000"/>
              <a:gd name="connsiteY1" fmla="*/ 0 h 10000"/>
              <a:gd name="connsiteX2" fmla="*/ 9751 w 10000"/>
              <a:gd name="connsiteY2" fmla="*/ 9062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pic>
        <p:nvPicPr>
          <p:cNvPr id="4" name="图片 3"/>
          <p:cNvPicPr>
            <a:picLocks noChangeAspect="1"/>
          </p:cNvPicPr>
          <p:nvPr userDrawn="1"/>
        </p:nvPicPr>
        <p:blipFill>
          <a:blip r:embed="rId2">
            <a:grayscl/>
            <a:biLevel thresh="50000"/>
            <a:extLst>
              <a:ext uri="{28A0092B-C50C-407E-A947-70E740481C1C}">
                <a14:useLocalDpi xmlns:a14="http://schemas.microsoft.com/office/drawing/2010/main" val="0"/>
              </a:ext>
            </a:extLst>
          </a:blip>
          <a:srcRect t="77927" r="53951"/>
          <a:stretch>
            <a:fillRect/>
          </a:stretch>
        </p:blipFill>
        <p:spPr bwMode="auto">
          <a:xfrm>
            <a:off x="5872163" y="4892675"/>
            <a:ext cx="865187"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a:cxnSpLocks noChangeShapeType="1"/>
          </p:cNvCxnSpPr>
          <p:nvPr userDrawn="1"/>
        </p:nvCxnSpPr>
        <p:spPr bwMode="auto">
          <a:xfrm>
            <a:off x="207963" y="620713"/>
            <a:ext cx="6443662" cy="0"/>
          </a:xfrm>
          <a:prstGeom prst="line">
            <a:avLst/>
          </a:prstGeom>
          <a:noFill/>
          <a:ln w="19050" algn="ctr">
            <a:solidFill>
              <a:srgbClr val="1557A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燕尾形 5"/>
          <p:cNvSpPr/>
          <p:nvPr userDrawn="1"/>
        </p:nvSpPr>
        <p:spPr bwMode="auto">
          <a:xfrm>
            <a:off x="222250" y="288925"/>
            <a:ext cx="206375" cy="261938"/>
          </a:xfrm>
          <a:prstGeom prst="chevron">
            <a:avLst>
              <a:gd name="adj" fmla="val 37480"/>
            </a:avLst>
          </a:prstGeom>
          <a:solidFill>
            <a:srgbClr val="1557AE"/>
          </a:solidFill>
          <a:ln w="9525" cap="flat" cmpd="sng" algn="ctr">
            <a:noFill/>
            <a:prstDash val="solid"/>
            <a:round/>
            <a:headEnd type="none" w="med" len="med"/>
            <a:tailEnd type="none" w="med" len="med"/>
          </a:ln>
          <a:effectLst/>
        </p:spPr>
        <p:txBody>
          <a:bodyPr lIns="68580" tIns="34290" rIns="68580" bIns="34290"/>
          <a:lstStyle/>
          <a:p>
            <a:pPr defTabSz="685800">
              <a:buFont typeface="Arial" pitchFamily="34" charset="0"/>
              <a:buNone/>
              <a:defRPr/>
            </a:pPr>
            <a:endParaRPr lang="zh-CN" altLang="en-US" sz="1350">
              <a:latin typeface="Calibri" pitchFamily="34" charset="0"/>
            </a:endParaRPr>
          </a:p>
        </p:txBody>
      </p:sp>
      <p:sp>
        <p:nvSpPr>
          <p:cNvPr id="7" name="燕尾形 6"/>
          <p:cNvSpPr/>
          <p:nvPr userDrawn="1"/>
        </p:nvSpPr>
        <p:spPr bwMode="auto">
          <a:xfrm>
            <a:off x="422275" y="290513"/>
            <a:ext cx="207963" cy="261937"/>
          </a:xfrm>
          <a:prstGeom prst="chevron">
            <a:avLst>
              <a:gd name="adj" fmla="val 37480"/>
            </a:avLst>
          </a:prstGeom>
          <a:solidFill>
            <a:srgbClr val="1557AE"/>
          </a:solidFill>
          <a:ln w="9525" cap="flat" cmpd="sng" algn="ctr">
            <a:noFill/>
            <a:prstDash val="solid"/>
            <a:round/>
            <a:headEnd type="none" w="med" len="med"/>
            <a:tailEnd type="none" w="med" len="med"/>
          </a:ln>
          <a:effectLst/>
        </p:spPr>
        <p:txBody>
          <a:bodyPr lIns="68580" tIns="34290" rIns="68580" bIns="34290"/>
          <a:lstStyle/>
          <a:p>
            <a:pPr defTabSz="685800">
              <a:buFont typeface="Arial" pitchFamily="34" charset="0"/>
              <a:buNone/>
              <a:defRPr/>
            </a:pPr>
            <a:endParaRPr lang="zh-CN" altLang="en-US" sz="1350">
              <a:latin typeface="Calibri" pitchFamily="34" charset="0"/>
            </a:endParaRPr>
          </a:p>
        </p:txBody>
      </p:sp>
      <p:sp>
        <p:nvSpPr>
          <p:cNvPr id="8" name="灯片编号占位符 7">
            <a:extLst>
              <a:ext uri="{FF2B5EF4-FFF2-40B4-BE49-F238E27FC236}">
                <a16:creationId xmlns:a16="http://schemas.microsoft.com/office/drawing/2014/main" id="{6BD33AC9-95A7-486B-BE87-CCBBEA1BEAF3}"/>
              </a:ext>
            </a:extLst>
          </p:cNvPr>
          <p:cNvSpPr>
            <a:spLocks noGrp="1"/>
          </p:cNvSpPr>
          <p:nvPr>
            <p:ph type="sldNum" sz="quarter" idx="10"/>
          </p:nvPr>
        </p:nvSpPr>
        <p:spPr>
          <a:xfrm>
            <a:off x="5108575" y="4585943"/>
            <a:ext cx="1543050" cy="274637"/>
          </a:xfrm>
        </p:spPr>
        <p:txBody>
          <a:bodyPr/>
          <a:lstStyle>
            <a:lvl1pPr>
              <a:defRPr>
                <a:solidFill>
                  <a:schemeClr val="tx1"/>
                </a:solidFill>
              </a:defRPr>
            </a:lvl1pPr>
          </a:lstStyle>
          <a:p>
            <a:fld id="{9DD107A0-4877-43E4-A5FF-B88F5F65F446}" type="slidenum">
              <a:rPr lang="zh-CN" altLang="en-US" smtClean="0"/>
              <a:pPr/>
              <a:t>‹#›</a:t>
            </a:fld>
            <a:endParaRPr lang="zh-CN" altLang="en-US" dirty="0">
              <a:solidFill>
                <a:schemeClr val="tx1"/>
              </a:solidFill>
            </a:endParaRPr>
          </a:p>
        </p:txBody>
      </p:sp>
    </p:spTree>
    <p:extLst>
      <p:ext uri="{BB962C8B-B14F-4D97-AF65-F5344CB8AC3E}">
        <p14:creationId xmlns:p14="http://schemas.microsoft.com/office/powerpoint/2010/main" val="1694611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976ADA0-81AA-436E-9708-22FE64E656B2}"/>
              </a:ext>
            </a:extLst>
          </p:cNvPr>
          <p:cNvSpPr>
            <a:spLocks noGrp="1"/>
          </p:cNvSpPr>
          <p:nvPr>
            <p:ph type="ftr" sz="quarter" idx="10"/>
          </p:nvPr>
        </p:nvSpPr>
        <p:spPr>
          <a:xfrm>
            <a:off x="2271713" y="4767263"/>
            <a:ext cx="2314575" cy="274637"/>
          </a:xfrm>
          <a:prstGeom prst="rect">
            <a:avLst/>
          </a:prstGeom>
        </p:spPr>
        <p:txBody>
          <a:bodyPr/>
          <a:lstStyle/>
          <a:p>
            <a:endParaRPr lang="zh-CN" altLang="en-US"/>
          </a:p>
        </p:txBody>
      </p:sp>
      <p:sp>
        <p:nvSpPr>
          <p:cNvPr id="3" name="灯片编号占位符 2">
            <a:extLst>
              <a:ext uri="{FF2B5EF4-FFF2-40B4-BE49-F238E27FC236}">
                <a16:creationId xmlns:a16="http://schemas.microsoft.com/office/drawing/2014/main" id="{F9C742B3-B537-43B2-9557-A792152E979A}"/>
              </a:ext>
            </a:extLst>
          </p:cNvPr>
          <p:cNvSpPr>
            <a:spLocks noGrp="1"/>
          </p:cNvSpPr>
          <p:nvPr>
            <p:ph type="sldNum" sz="quarter" idx="11"/>
          </p:nvPr>
        </p:nvSpPr>
        <p:spPr/>
        <p:txBody>
          <a:bodyPr/>
          <a:lstStyle>
            <a:lvl1pPr>
              <a:defRPr>
                <a:solidFill>
                  <a:schemeClr val="tx1"/>
                </a:solidFill>
              </a:defRPr>
            </a:lvl1pPr>
          </a:lstStyle>
          <a:p>
            <a:fld id="{9DD107A0-4877-43E4-A5FF-B88F5F65F446}" type="slidenum">
              <a:rPr lang="zh-CN" altLang="en-US" smtClean="0"/>
              <a:pPr/>
              <a:t>‹#›</a:t>
            </a:fld>
            <a:endParaRPr lang="zh-CN" altLang="en-US" dirty="0">
              <a:solidFill>
                <a:schemeClr val="tx1"/>
              </a:solidFill>
            </a:endParaRPr>
          </a:p>
        </p:txBody>
      </p:sp>
    </p:spTree>
    <p:extLst>
      <p:ext uri="{BB962C8B-B14F-4D97-AF65-F5344CB8AC3E}">
        <p14:creationId xmlns:p14="http://schemas.microsoft.com/office/powerpoint/2010/main" val="1445645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4" descr="E:\WORK\工作\PPT\PPT新校徽\L15副本.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113"/>
            <a:ext cx="6858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3A37C6EE-F35A-493A-90FB-F035561D25FD}"/>
              </a:ext>
            </a:extLst>
          </p:cNvPr>
          <p:cNvSpPr>
            <a:spLocks noGrp="1"/>
          </p:cNvSpPr>
          <p:nvPr>
            <p:ph type="sldNum" sz="quarter" idx="10"/>
          </p:nvPr>
        </p:nvSpPr>
        <p:spPr/>
        <p:txBody>
          <a:bodyPr/>
          <a:lstStyle/>
          <a:p>
            <a:fld id="{9DD107A0-4877-43E4-A5FF-B88F5F65F446}" type="slidenum">
              <a:rPr lang="zh-CN" altLang="en-US" smtClean="0"/>
              <a:t>‹#›</a:t>
            </a:fld>
            <a:endParaRPr lang="zh-CN" altLang="en-US"/>
          </a:p>
        </p:txBody>
      </p:sp>
    </p:spTree>
    <p:extLst>
      <p:ext uri="{BB962C8B-B14F-4D97-AF65-F5344CB8AC3E}">
        <p14:creationId xmlns:p14="http://schemas.microsoft.com/office/powerpoint/2010/main" val="3791594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 name="Picture 3" descr="E:\WORK\工作\PPT\PPT新校徽\L142副本.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63663" y="0"/>
            <a:ext cx="5494337"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20538CDB-623A-426A-8DAC-AFCBFEB593E5}"/>
              </a:ext>
            </a:extLst>
          </p:cNvPr>
          <p:cNvSpPr>
            <a:spLocks noGrp="1"/>
          </p:cNvSpPr>
          <p:nvPr>
            <p:ph type="sldNum" sz="quarter" idx="10"/>
          </p:nvPr>
        </p:nvSpPr>
        <p:spPr/>
        <p:txBody>
          <a:bodyPr/>
          <a:lstStyle/>
          <a:p>
            <a:fld id="{9DD107A0-4877-43E4-A5FF-B88F5F65F446}" type="slidenum">
              <a:rPr lang="zh-CN" altLang="en-US" smtClean="0"/>
              <a:t>‹#›</a:t>
            </a:fld>
            <a:endParaRPr lang="zh-CN" altLang="en-US"/>
          </a:p>
        </p:txBody>
      </p:sp>
    </p:spTree>
    <p:extLst>
      <p:ext uri="{BB962C8B-B14F-4D97-AF65-F5344CB8AC3E}">
        <p14:creationId xmlns:p14="http://schemas.microsoft.com/office/powerpoint/2010/main" val="3983461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2" name="Picture 3" descr="E:\WORK\工作\PPT\PPT新校徽\L142副本.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6858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B4143B33-FEE6-4477-8689-DB912EA79456}"/>
              </a:ext>
            </a:extLst>
          </p:cNvPr>
          <p:cNvSpPr>
            <a:spLocks noGrp="1"/>
          </p:cNvSpPr>
          <p:nvPr>
            <p:ph type="sldNum" sz="quarter" idx="10"/>
          </p:nvPr>
        </p:nvSpPr>
        <p:spPr/>
        <p:txBody>
          <a:bodyPr/>
          <a:lstStyle/>
          <a:p>
            <a:fld id="{9DD107A0-4877-43E4-A5FF-B88F5F65F446}" type="slidenum">
              <a:rPr lang="zh-CN" altLang="en-US" smtClean="0"/>
              <a:t>‹#›</a:t>
            </a:fld>
            <a:endParaRPr lang="zh-CN" altLang="en-US"/>
          </a:p>
        </p:txBody>
      </p:sp>
    </p:spTree>
    <p:extLst>
      <p:ext uri="{BB962C8B-B14F-4D97-AF65-F5344CB8AC3E}">
        <p14:creationId xmlns:p14="http://schemas.microsoft.com/office/powerpoint/2010/main" val="1542617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42900" y="205979"/>
            <a:ext cx="61722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p:cNvSpPr>
            <a:spLocks noGrp="1" noChangeArrowheads="1"/>
          </p:cNvSpPr>
          <p:nvPr>
            <p:ph type="ftr" sz="quarter" idx="10"/>
          </p:nvPr>
        </p:nvSpPr>
        <p:spPr>
          <a:xfrm>
            <a:off x="2271713" y="4767263"/>
            <a:ext cx="2314575" cy="274637"/>
          </a:xfrm>
          <a:prstGeom prst="rect">
            <a:avLst/>
          </a:prstGeom>
          <a:ln/>
        </p:spPr>
        <p:txBody>
          <a:bodyPr/>
          <a:lstStyle>
            <a:lvl1pPr>
              <a:defRPr/>
            </a:lvl1pPr>
          </a:lstStyle>
          <a:p>
            <a:pPr>
              <a:defRPr/>
            </a:pPr>
            <a:endParaRPr lang="en-US" altLang="zh-CN"/>
          </a:p>
        </p:txBody>
      </p:sp>
    </p:spTree>
    <p:extLst>
      <p:ext uri="{BB962C8B-B14F-4D97-AF65-F5344CB8AC3E}">
        <p14:creationId xmlns:p14="http://schemas.microsoft.com/office/powerpoint/2010/main" val="420201163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8" descr="首页页尾图片"/>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929187"/>
            <a:ext cx="69627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9" descr="标题图片1.JP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
            <a:ext cx="6858000" cy="106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10"/>
          <p:cNvSpPr txBox="1">
            <a:spLocks noChangeArrowheads="1"/>
          </p:cNvSpPr>
          <p:nvPr userDrawn="1"/>
        </p:nvSpPr>
        <p:spPr bwMode="auto">
          <a:xfrm>
            <a:off x="1071563" y="375047"/>
            <a:ext cx="5679281" cy="369332"/>
          </a:xfrm>
          <a:prstGeom prst="rect">
            <a:avLst/>
          </a:prstGeom>
          <a:noFill/>
          <a:ln>
            <a:noFill/>
          </a:ln>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sz="1800">
                <a:solidFill>
                  <a:schemeClr val="bg1"/>
                </a:solidFill>
                <a:latin typeface="Adobe Caslon Pro Bold" pitchFamily="18" charset="0"/>
              </a:rPr>
              <a:t>School of Electronic &amp; Information Engineering</a:t>
            </a:r>
            <a:endParaRPr lang="zh-CN" altLang="en-US" sz="1800">
              <a:solidFill>
                <a:schemeClr val="bg1"/>
              </a:solidFill>
              <a:latin typeface="Adobe Caslon Pro Bold" pitchFamily="18" charset="0"/>
            </a:endParaRPr>
          </a:p>
        </p:txBody>
      </p:sp>
      <p:sp>
        <p:nvSpPr>
          <p:cNvPr id="78850" name="Rectangle 2"/>
          <p:cNvSpPr>
            <a:spLocks noGrp="1" noChangeArrowheads="1"/>
          </p:cNvSpPr>
          <p:nvPr>
            <p:ph type="ctrTitle"/>
          </p:nvPr>
        </p:nvSpPr>
        <p:spPr>
          <a:xfrm>
            <a:off x="514350" y="1597819"/>
            <a:ext cx="5829300" cy="1102519"/>
          </a:xfrm>
        </p:spPr>
        <p:txBody>
          <a:bodyPr/>
          <a:lstStyle>
            <a:lvl1pPr>
              <a:defRPr/>
            </a:lvl1pPr>
          </a:lstStyle>
          <a:p>
            <a:r>
              <a:rPr lang="zh-CN" altLang="en-US"/>
              <a:t>单击此处编辑母版标题样式</a:t>
            </a:r>
          </a:p>
        </p:txBody>
      </p:sp>
      <p:sp>
        <p:nvSpPr>
          <p:cNvPr id="78851" name="Rectangle 3"/>
          <p:cNvSpPr>
            <a:spLocks noGrp="1" noChangeArrowheads="1"/>
          </p:cNvSpPr>
          <p:nvPr>
            <p:ph type="subTitle" idx="1"/>
          </p:nvPr>
        </p:nvSpPr>
        <p:spPr>
          <a:xfrm>
            <a:off x="1028700" y="2914650"/>
            <a:ext cx="4800600" cy="1314450"/>
          </a:xfrm>
        </p:spPr>
        <p:txBody>
          <a:bodyPr/>
          <a:lstStyle>
            <a:lvl1pPr marL="0" indent="0" algn="ctr">
              <a:buFont typeface="Wingdings" pitchFamily="2" charset="2"/>
              <a:buNone/>
              <a:defRPr/>
            </a:lvl1pPr>
          </a:lstStyle>
          <a:p>
            <a:r>
              <a:rPr lang="zh-CN" altLang="en-US"/>
              <a:t>单击此处编辑母版副标题样式</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DB576E72-943E-45C7-8E26-3B60401AAA47}" type="slidenum">
              <a:rPr lang="en-US" altLang="zh-CN"/>
              <a:pPr>
                <a:defRPr/>
              </a:pPr>
              <a:t>‹#›</a:t>
            </a:fld>
            <a:endParaRPr lang="en-US" altLang="zh-CN"/>
          </a:p>
        </p:txBody>
      </p:sp>
    </p:spTree>
    <p:extLst>
      <p:ext uri="{BB962C8B-B14F-4D97-AF65-F5344CB8AC3E}">
        <p14:creationId xmlns:p14="http://schemas.microsoft.com/office/powerpoint/2010/main" val="1176025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0818B8C-256D-4FB1-8C06-78D2E5FB8B7C}" type="slidenum">
              <a:rPr lang="en-US" altLang="zh-CN"/>
              <a:pPr>
                <a:defRPr/>
              </a:pPr>
              <a:t>‹#›</a:t>
            </a:fld>
            <a:endParaRPr lang="en-US" altLang="zh-CN"/>
          </a:p>
        </p:txBody>
      </p:sp>
    </p:spTree>
    <p:extLst>
      <p:ext uri="{BB962C8B-B14F-4D97-AF65-F5344CB8AC3E}">
        <p14:creationId xmlns:p14="http://schemas.microsoft.com/office/powerpoint/2010/main" val="4230540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41735" y="3305176"/>
            <a:ext cx="58293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541735" y="2180035"/>
            <a:ext cx="58293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928007E-7319-4C8D-B122-046580968937}" type="slidenum">
              <a:rPr lang="en-US" altLang="zh-CN"/>
              <a:pPr>
                <a:defRPr/>
              </a:pPr>
              <a:t>‹#›</a:t>
            </a:fld>
            <a:endParaRPr lang="en-US" altLang="zh-CN"/>
          </a:p>
        </p:txBody>
      </p:sp>
    </p:spTree>
    <p:extLst>
      <p:ext uri="{BB962C8B-B14F-4D97-AF65-F5344CB8AC3E}">
        <p14:creationId xmlns:p14="http://schemas.microsoft.com/office/powerpoint/2010/main" val="2956680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63069D3-8301-4261-B85A-F7CF72713555}" type="slidenum">
              <a:rPr lang="en-US" altLang="zh-CN"/>
              <a:pPr>
                <a:defRPr/>
              </a:pPr>
              <a:t>‹#›</a:t>
            </a:fld>
            <a:endParaRPr lang="en-US" altLang="zh-CN"/>
          </a:p>
        </p:txBody>
      </p:sp>
    </p:spTree>
    <p:extLst>
      <p:ext uri="{BB962C8B-B14F-4D97-AF65-F5344CB8AC3E}">
        <p14:creationId xmlns:p14="http://schemas.microsoft.com/office/powerpoint/2010/main" val="2222418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342900" y="1151335"/>
            <a:ext cx="303014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342900" y="1631156"/>
            <a:ext cx="303014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3483769" y="1151335"/>
            <a:ext cx="303133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3483769" y="1631156"/>
            <a:ext cx="303133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6F1367D-5660-4CF4-BC74-5AE54C1F71AC}" type="slidenum">
              <a:rPr lang="en-US" altLang="zh-CN"/>
              <a:pPr>
                <a:defRPr/>
              </a:pPr>
              <a:t>‹#›</a:t>
            </a:fld>
            <a:endParaRPr lang="en-US" altLang="zh-CN"/>
          </a:p>
        </p:txBody>
      </p:sp>
    </p:spTree>
    <p:extLst>
      <p:ext uri="{BB962C8B-B14F-4D97-AF65-F5344CB8AC3E}">
        <p14:creationId xmlns:p14="http://schemas.microsoft.com/office/powerpoint/2010/main" val="2305807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AA74025-C25E-4893-AF40-5E39D187FBE2}" type="slidenum">
              <a:rPr lang="en-US" altLang="zh-CN"/>
              <a:pPr>
                <a:defRPr/>
              </a:pPr>
              <a:t>‹#›</a:t>
            </a:fld>
            <a:endParaRPr lang="en-US" altLang="zh-CN"/>
          </a:p>
        </p:txBody>
      </p:sp>
    </p:spTree>
    <p:extLst>
      <p:ext uri="{BB962C8B-B14F-4D97-AF65-F5344CB8AC3E}">
        <p14:creationId xmlns:p14="http://schemas.microsoft.com/office/powerpoint/2010/main" val="4029110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A67DECA3-E2C9-4D68-88D5-509E5CCE8895}" type="slidenum">
              <a:rPr lang="en-US" altLang="zh-CN"/>
              <a:pPr>
                <a:defRPr/>
              </a:pPr>
              <a:t>‹#›</a:t>
            </a:fld>
            <a:endParaRPr lang="en-US" altLang="zh-CN"/>
          </a:p>
        </p:txBody>
      </p:sp>
    </p:spTree>
    <p:extLst>
      <p:ext uri="{BB962C8B-B14F-4D97-AF65-F5344CB8AC3E}">
        <p14:creationId xmlns:p14="http://schemas.microsoft.com/office/powerpoint/2010/main" val="3052382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42900" y="204787"/>
            <a:ext cx="2256235"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2681287" y="204788"/>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342900" y="1076326"/>
            <a:ext cx="2256235"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D07E410-0EB9-445B-8379-640742BC399B}" type="slidenum">
              <a:rPr lang="en-US" altLang="zh-CN"/>
              <a:pPr>
                <a:defRPr/>
              </a:pPr>
              <a:t>‹#›</a:t>
            </a:fld>
            <a:endParaRPr lang="en-US" altLang="zh-CN"/>
          </a:p>
        </p:txBody>
      </p:sp>
    </p:spTree>
    <p:extLst>
      <p:ext uri="{BB962C8B-B14F-4D97-AF65-F5344CB8AC3E}">
        <p14:creationId xmlns:p14="http://schemas.microsoft.com/office/powerpoint/2010/main" val="31940497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344216" y="3600450"/>
            <a:ext cx="41148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344216" y="459581"/>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344216" y="4025503"/>
            <a:ext cx="41148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702D8B6-80F5-49B1-88C4-F70BE1DCD10C}" type="slidenum">
              <a:rPr lang="en-US" altLang="zh-CN"/>
              <a:pPr>
                <a:defRPr/>
              </a:pPr>
              <a:t>‹#›</a:t>
            </a:fld>
            <a:endParaRPr lang="en-US" altLang="zh-CN"/>
          </a:p>
        </p:txBody>
      </p:sp>
    </p:spTree>
    <p:extLst>
      <p:ext uri="{BB962C8B-B14F-4D97-AF65-F5344CB8AC3E}">
        <p14:creationId xmlns:p14="http://schemas.microsoft.com/office/powerpoint/2010/main" val="1145750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0EAECD0-1549-4B5B-9D91-29261C82E071}" type="slidenum">
              <a:rPr lang="en-US" altLang="zh-CN"/>
              <a:pPr>
                <a:defRPr/>
              </a:pPr>
              <a:t>‹#›</a:t>
            </a:fld>
            <a:endParaRPr lang="en-US" altLang="zh-CN"/>
          </a:p>
        </p:txBody>
      </p:sp>
    </p:spTree>
    <p:extLst>
      <p:ext uri="{BB962C8B-B14F-4D97-AF65-F5344CB8AC3E}">
        <p14:creationId xmlns:p14="http://schemas.microsoft.com/office/powerpoint/2010/main" val="5306593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72050" y="205979"/>
            <a:ext cx="154305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42900" y="205979"/>
            <a:ext cx="451485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D846B2E-1B59-433E-8933-E644D957BC3D}" type="slidenum">
              <a:rPr lang="en-US" altLang="zh-CN"/>
              <a:pPr>
                <a:defRPr/>
              </a:pPr>
              <a:t>‹#›</a:t>
            </a:fld>
            <a:endParaRPr lang="en-US" altLang="zh-CN"/>
          </a:p>
        </p:txBody>
      </p:sp>
    </p:spTree>
    <p:extLst>
      <p:ext uri="{BB962C8B-B14F-4D97-AF65-F5344CB8AC3E}">
        <p14:creationId xmlns:p14="http://schemas.microsoft.com/office/powerpoint/2010/main" val="20179062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4.jpe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FFFFF"/>
            </a:gs>
            <a:gs pos="97000">
              <a:srgbClr val="F6FAFD"/>
            </a:gs>
            <a:gs pos="100000">
              <a:srgbClr val="F6FAFD"/>
            </a:gs>
          </a:gsLst>
          <a:lin ang="5400000" scaled="1"/>
        </a:gradFill>
        <a:effectLst/>
      </p:bgPr>
    </p:bg>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FC4D0B8-0269-4DB9-971C-1760435ADBA0}"/>
              </a:ext>
            </a:extLst>
          </p:cNvPr>
          <p:cNvSpPr>
            <a:spLocks noGrp="1"/>
          </p:cNvSpPr>
          <p:nvPr>
            <p:ph type="sldNum" sz="quarter" idx="4"/>
          </p:nvPr>
        </p:nvSpPr>
        <p:spPr>
          <a:xfrm>
            <a:off x="4843463" y="4767263"/>
            <a:ext cx="154305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DD107A0-4877-43E4-A5FF-B88F5F65F44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171" r:id="rId1"/>
    <p:sldLayoutId id="2147484157" r:id="rId2"/>
    <p:sldLayoutId id="2147484172" r:id="rId3"/>
    <p:sldLayoutId id="2147484173" r:id="rId4"/>
    <p:sldLayoutId id="2147484174" r:id="rId5"/>
    <p:sldLayoutId id="2147484187" r:id="rId6"/>
  </p:sldLayoutIdLst>
  <p:hf sldNum="0"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Tahoma" pitchFamily="34" charset="0"/>
          <a:ea typeface="黑体" pitchFamily="49" charset="-122"/>
        </a:defRPr>
      </a:lvl2pPr>
      <a:lvl3pPr algn="ctr" rtl="0" eaLnBrk="0" fontAlgn="base" hangingPunct="0">
        <a:spcBef>
          <a:spcPct val="0"/>
        </a:spcBef>
        <a:spcAft>
          <a:spcPct val="0"/>
        </a:spcAft>
        <a:defRPr sz="3300">
          <a:solidFill>
            <a:schemeClr val="tx2"/>
          </a:solidFill>
          <a:latin typeface="Tahoma" pitchFamily="34" charset="0"/>
          <a:ea typeface="黑体" pitchFamily="49" charset="-122"/>
        </a:defRPr>
      </a:lvl3pPr>
      <a:lvl4pPr algn="ctr" rtl="0" eaLnBrk="0" fontAlgn="base" hangingPunct="0">
        <a:spcBef>
          <a:spcPct val="0"/>
        </a:spcBef>
        <a:spcAft>
          <a:spcPct val="0"/>
        </a:spcAft>
        <a:defRPr sz="3300">
          <a:solidFill>
            <a:schemeClr val="tx2"/>
          </a:solidFill>
          <a:latin typeface="Tahoma" pitchFamily="34" charset="0"/>
          <a:ea typeface="黑体" pitchFamily="49" charset="-122"/>
        </a:defRPr>
      </a:lvl4pPr>
      <a:lvl5pPr algn="ctr" rtl="0" eaLnBrk="0" fontAlgn="base" hangingPunct="0">
        <a:spcBef>
          <a:spcPct val="0"/>
        </a:spcBef>
        <a:spcAft>
          <a:spcPct val="0"/>
        </a:spcAft>
        <a:defRPr sz="3300">
          <a:solidFill>
            <a:schemeClr val="tx2"/>
          </a:solidFill>
          <a:latin typeface="Tahoma" pitchFamily="34" charset="0"/>
          <a:ea typeface="黑体" pitchFamily="49" charset="-122"/>
        </a:defRPr>
      </a:lvl5pPr>
      <a:lvl6pPr marL="342900" algn="ctr" rtl="0" eaLnBrk="0" fontAlgn="base" hangingPunct="0">
        <a:spcBef>
          <a:spcPct val="0"/>
        </a:spcBef>
        <a:spcAft>
          <a:spcPct val="0"/>
        </a:spcAft>
        <a:defRPr sz="3300">
          <a:solidFill>
            <a:schemeClr val="tx2"/>
          </a:solidFill>
          <a:latin typeface="Tahoma" pitchFamily="34" charset="0"/>
          <a:ea typeface="黑体" pitchFamily="49" charset="-122"/>
        </a:defRPr>
      </a:lvl6pPr>
      <a:lvl7pPr marL="685800" algn="ctr" rtl="0" eaLnBrk="0" fontAlgn="base" hangingPunct="0">
        <a:spcBef>
          <a:spcPct val="0"/>
        </a:spcBef>
        <a:spcAft>
          <a:spcPct val="0"/>
        </a:spcAft>
        <a:defRPr sz="3300">
          <a:solidFill>
            <a:schemeClr val="tx2"/>
          </a:solidFill>
          <a:latin typeface="Tahoma" pitchFamily="34" charset="0"/>
          <a:ea typeface="黑体" pitchFamily="49" charset="-122"/>
        </a:defRPr>
      </a:lvl7pPr>
      <a:lvl8pPr marL="1028700" algn="ctr" rtl="0" eaLnBrk="0" fontAlgn="base" hangingPunct="0">
        <a:spcBef>
          <a:spcPct val="0"/>
        </a:spcBef>
        <a:spcAft>
          <a:spcPct val="0"/>
        </a:spcAft>
        <a:defRPr sz="3300">
          <a:solidFill>
            <a:schemeClr val="tx2"/>
          </a:solidFill>
          <a:latin typeface="Tahoma" pitchFamily="34" charset="0"/>
          <a:ea typeface="黑体" pitchFamily="49" charset="-122"/>
        </a:defRPr>
      </a:lvl8pPr>
      <a:lvl9pPr marL="1371600" algn="ctr" rtl="0" eaLnBrk="0" fontAlgn="base" hangingPunct="0">
        <a:spcBef>
          <a:spcPct val="0"/>
        </a:spcBef>
        <a:spcAft>
          <a:spcPct val="0"/>
        </a:spcAft>
        <a:defRPr sz="3300">
          <a:solidFill>
            <a:schemeClr val="tx2"/>
          </a:solidFill>
          <a:latin typeface="Tahoma" pitchFamily="34" charset="0"/>
          <a:ea typeface="黑体" pitchFamily="49" charset="-122"/>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ea typeface="+mn-ea"/>
        </a:defRPr>
      </a:lvl2pPr>
      <a:lvl3pPr marL="857250" indent="-171450" algn="l" rtl="0" eaLnBrk="0" fontAlgn="base" hangingPunct="0">
        <a:spcBef>
          <a:spcPct val="20000"/>
        </a:spcBef>
        <a:spcAft>
          <a:spcPct val="0"/>
        </a:spcAft>
        <a:buChar char="•"/>
        <a:defRPr>
          <a:solidFill>
            <a:schemeClr val="tx1"/>
          </a:solidFill>
          <a:latin typeface="+mn-lt"/>
          <a:ea typeface="+mn-ea"/>
        </a:defRPr>
      </a:lvl3pPr>
      <a:lvl4pPr marL="1200150" indent="-171450" algn="l" rtl="0" eaLnBrk="0" fontAlgn="base" hangingPunct="0">
        <a:spcBef>
          <a:spcPct val="20000"/>
        </a:spcBef>
        <a:spcAft>
          <a:spcPct val="0"/>
        </a:spcAft>
        <a:buChar char="–"/>
        <a:defRPr sz="1500">
          <a:solidFill>
            <a:schemeClr val="tx1"/>
          </a:solidFill>
          <a:latin typeface="+mn-lt"/>
          <a:ea typeface="+mn-ea"/>
        </a:defRPr>
      </a:lvl4pPr>
      <a:lvl5pPr marL="1543050" indent="-171450" algn="l" rtl="0" eaLnBrk="0" fontAlgn="base" hangingPunct="0">
        <a:spcBef>
          <a:spcPct val="20000"/>
        </a:spcBef>
        <a:spcAft>
          <a:spcPct val="0"/>
        </a:spcAft>
        <a:buChar char="»"/>
        <a:defRPr sz="1500">
          <a:solidFill>
            <a:schemeClr val="tx1"/>
          </a:solidFill>
          <a:latin typeface="+mn-lt"/>
          <a:ea typeface="+mn-ea"/>
        </a:defRPr>
      </a:lvl5pPr>
      <a:lvl6pPr marL="1885950" indent="-171450" algn="l" rtl="0" eaLnBrk="0" fontAlgn="base" hangingPunct="0">
        <a:spcBef>
          <a:spcPct val="20000"/>
        </a:spcBef>
        <a:spcAft>
          <a:spcPct val="0"/>
        </a:spcAft>
        <a:buChar char="»"/>
        <a:defRPr sz="1500">
          <a:solidFill>
            <a:schemeClr val="tx1"/>
          </a:solidFill>
          <a:latin typeface="+mn-lt"/>
          <a:ea typeface="+mn-ea"/>
        </a:defRPr>
      </a:lvl6pPr>
      <a:lvl7pPr marL="2228850" indent="-171450" algn="l" rtl="0" eaLnBrk="0" fontAlgn="base" hangingPunct="0">
        <a:spcBef>
          <a:spcPct val="20000"/>
        </a:spcBef>
        <a:spcAft>
          <a:spcPct val="0"/>
        </a:spcAft>
        <a:buChar char="»"/>
        <a:defRPr sz="1500">
          <a:solidFill>
            <a:schemeClr val="tx1"/>
          </a:solidFill>
          <a:latin typeface="+mn-lt"/>
          <a:ea typeface="+mn-ea"/>
        </a:defRPr>
      </a:lvl7pPr>
      <a:lvl8pPr marL="2571750" indent="-171450" algn="l" rtl="0" eaLnBrk="0" fontAlgn="base" hangingPunct="0">
        <a:spcBef>
          <a:spcPct val="20000"/>
        </a:spcBef>
        <a:spcAft>
          <a:spcPct val="0"/>
        </a:spcAft>
        <a:buChar char="»"/>
        <a:defRPr sz="1500">
          <a:solidFill>
            <a:schemeClr val="tx1"/>
          </a:solidFill>
          <a:latin typeface="+mn-lt"/>
          <a:ea typeface="+mn-ea"/>
        </a:defRPr>
      </a:lvl8pPr>
      <a:lvl9pPr marL="2914650" indent="-171450" algn="l" rtl="0" eaLnBrk="0" fontAlgn="base" hangingPunct="0">
        <a:spcBef>
          <a:spcPct val="20000"/>
        </a:spcBef>
        <a:spcAft>
          <a:spcPct val="0"/>
        </a:spcAft>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42900" y="205979"/>
            <a:ext cx="61722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42900" y="1200151"/>
            <a:ext cx="61722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75780" name="Rectangle 4"/>
          <p:cNvSpPr>
            <a:spLocks noGrp="1" noChangeArrowheads="1"/>
          </p:cNvSpPr>
          <p:nvPr>
            <p:ph type="dt" sz="half" idx="2"/>
          </p:nvPr>
        </p:nvSpPr>
        <p:spPr bwMode="auto">
          <a:xfrm>
            <a:off x="342900" y="4683919"/>
            <a:ext cx="16002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50">
                <a:latin typeface="Arial" charset="0"/>
                <a:ea typeface="宋体" pitchFamily="2" charset="-122"/>
              </a:defRPr>
            </a:lvl1pPr>
          </a:lstStyle>
          <a:p>
            <a:pPr>
              <a:defRPr/>
            </a:pPr>
            <a:endParaRPr lang="en-US" altLang="zh-CN"/>
          </a:p>
        </p:txBody>
      </p:sp>
      <p:sp>
        <p:nvSpPr>
          <p:cNvPr id="75781" name="Rectangle 5"/>
          <p:cNvSpPr>
            <a:spLocks noGrp="1" noChangeArrowheads="1"/>
          </p:cNvSpPr>
          <p:nvPr>
            <p:ph type="ftr" sz="quarter" idx="3"/>
          </p:nvPr>
        </p:nvSpPr>
        <p:spPr bwMode="auto">
          <a:xfrm>
            <a:off x="2343150" y="4683919"/>
            <a:ext cx="21717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ea typeface="宋体" pitchFamily="2" charset="-122"/>
              </a:defRPr>
            </a:lvl1pPr>
          </a:lstStyle>
          <a:p>
            <a:pPr>
              <a:defRPr/>
            </a:pPr>
            <a:endParaRPr lang="en-US" altLang="zh-CN"/>
          </a:p>
        </p:txBody>
      </p:sp>
      <p:sp>
        <p:nvSpPr>
          <p:cNvPr id="75782" name="Rectangle 6"/>
          <p:cNvSpPr>
            <a:spLocks noGrp="1" noChangeArrowheads="1"/>
          </p:cNvSpPr>
          <p:nvPr>
            <p:ph type="sldNum" sz="quarter" idx="4"/>
          </p:nvPr>
        </p:nvSpPr>
        <p:spPr bwMode="auto">
          <a:xfrm>
            <a:off x="4914900" y="4683919"/>
            <a:ext cx="16002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50"/>
            </a:lvl1pPr>
          </a:lstStyle>
          <a:p>
            <a:pPr>
              <a:defRPr/>
            </a:pPr>
            <a:fld id="{21AB5E3D-C770-46F0-8B09-29F908B565F5}" type="slidenum">
              <a:rPr lang="en-US" altLang="zh-CN"/>
              <a:pPr>
                <a:defRPr/>
              </a:pPr>
              <a:t>‹#›</a:t>
            </a:fld>
            <a:endParaRPr lang="en-US" altLang="zh-CN"/>
          </a:p>
        </p:txBody>
      </p:sp>
      <p:pic>
        <p:nvPicPr>
          <p:cNvPr id="1031" name="Picture 8" descr="内容页首图片"/>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41182" y="0"/>
            <a:ext cx="1216819"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9" descr="内容页尾图片"/>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0963" y="4914900"/>
            <a:ext cx="70199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2014631"/>
      </p:ext>
    </p:extLst>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79" r:id="rId4"/>
    <p:sldLayoutId id="2147484180" r:id="rId5"/>
    <p:sldLayoutId id="2147484181" r:id="rId6"/>
    <p:sldLayoutId id="2147484182" r:id="rId7"/>
    <p:sldLayoutId id="2147484183" r:id="rId8"/>
    <p:sldLayoutId id="2147484184" r:id="rId9"/>
    <p:sldLayoutId id="2147484185" r:id="rId10"/>
    <p:sldLayoutId id="2147484186" r:id="rId11"/>
  </p:sldLayoutIdLst>
  <p:hf sldNum="0"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ea typeface="华文中宋" pitchFamily="2" charset="-122"/>
        </a:defRPr>
      </a:lvl2pPr>
      <a:lvl3pPr algn="ctr" rtl="0" eaLnBrk="0" fontAlgn="base" hangingPunct="0">
        <a:spcBef>
          <a:spcPct val="0"/>
        </a:spcBef>
        <a:spcAft>
          <a:spcPct val="0"/>
        </a:spcAft>
        <a:defRPr sz="3300">
          <a:solidFill>
            <a:schemeClr val="tx2"/>
          </a:solidFill>
          <a:latin typeface="Arial" charset="0"/>
          <a:ea typeface="华文中宋" pitchFamily="2" charset="-122"/>
        </a:defRPr>
      </a:lvl3pPr>
      <a:lvl4pPr algn="ctr" rtl="0" eaLnBrk="0" fontAlgn="base" hangingPunct="0">
        <a:spcBef>
          <a:spcPct val="0"/>
        </a:spcBef>
        <a:spcAft>
          <a:spcPct val="0"/>
        </a:spcAft>
        <a:defRPr sz="3300">
          <a:solidFill>
            <a:schemeClr val="tx2"/>
          </a:solidFill>
          <a:latin typeface="Arial" charset="0"/>
          <a:ea typeface="华文中宋" pitchFamily="2" charset="-122"/>
        </a:defRPr>
      </a:lvl4pPr>
      <a:lvl5pPr algn="ctr" rtl="0" eaLnBrk="0" fontAlgn="base" hangingPunct="0">
        <a:spcBef>
          <a:spcPct val="0"/>
        </a:spcBef>
        <a:spcAft>
          <a:spcPct val="0"/>
        </a:spcAft>
        <a:defRPr sz="3300">
          <a:solidFill>
            <a:schemeClr val="tx2"/>
          </a:solidFill>
          <a:latin typeface="Arial" charset="0"/>
          <a:ea typeface="华文中宋" pitchFamily="2" charset="-122"/>
        </a:defRPr>
      </a:lvl5pPr>
      <a:lvl6pPr marL="342900" algn="ctr" rtl="0" fontAlgn="base">
        <a:spcBef>
          <a:spcPct val="0"/>
        </a:spcBef>
        <a:spcAft>
          <a:spcPct val="0"/>
        </a:spcAft>
        <a:defRPr sz="3300">
          <a:solidFill>
            <a:schemeClr val="tx2"/>
          </a:solidFill>
          <a:latin typeface="Arial" charset="0"/>
          <a:ea typeface="华文中宋" pitchFamily="2" charset="-122"/>
        </a:defRPr>
      </a:lvl6pPr>
      <a:lvl7pPr marL="685800" algn="ctr" rtl="0" fontAlgn="base">
        <a:spcBef>
          <a:spcPct val="0"/>
        </a:spcBef>
        <a:spcAft>
          <a:spcPct val="0"/>
        </a:spcAft>
        <a:defRPr sz="3300">
          <a:solidFill>
            <a:schemeClr val="tx2"/>
          </a:solidFill>
          <a:latin typeface="Arial" charset="0"/>
          <a:ea typeface="华文中宋" pitchFamily="2" charset="-122"/>
        </a:defRPr>
      </a:lvl7pPr>
      <a:lvl8pPr marL="1028700" algn="ctr" rtl="0" fontAlgn="base">
        <a:spcBef>
          <a:spcPct val="0"/>
        </a:spcBef>
        <a:spcAft>
          <a:spcPct val="0"/>
        </a:spcAft>
        <a:defRPr sz="3300">
          <a:solidFill>
            <a:schemeClr val="tx2"/>
          </a:solidFill>
          <a:latin typeface="Arial" charset="0"/>
          <a:ea typeface="华文中宋" pitchFamily="2" charset="-122"/>
        </a:defRPr>
      </a:lvl8pPr>
      <a:lvl9pPr marL="1371600" algn="ctr" rtl="0" fontAlgn="base">
        <a:spcBef>
          <a:spcPct val="0"/>
        </a:spcBef>
        <a:spcAft>
          <a:spcPct val="0"/>
        </a:spcAft>
        <a:defRPr sz="3300">
          <a:solidFill>
            <a:schemeClr val="tx2"/>
          </a:solidFill>
          <a:latin typeface="Arial" charset="0"/>
          <a:ea typeface="华文中宋" pitchFamily="2" charset="-122"/>
        </a:defRPr>
      </a:lvl9pPr>
    </p:titleStyle>
    <p:bodyStyle>
      <a:lvl1pPr marL="257175" indent="-257175" algn="l" rtl="0" eaLnBrk="0" fontAlgn="base" hangingPunct="0">
        <a:spcBef>
          <a:spcPct val="20000"/>
        </a:spcBef>
        <a:spcAft>
          <a:spcPct val="0"/>
        </a:spcAft>
        <a:buClr>
          <a:srgbClr val="A50021"/>
        </a:buClr>
        <a:buSzPct val="80000"/>
        <a:buFont typeface="Wingdings" panose="05000000000000000000" pitchFamily="2" charset="2"/>
        <a:buChar char="v"/>
        <a:defRPr sz="2400">
          <a:solidFill>
            <a:schemeClr val="tx1"/>
          </a:solidFill>
          <a:latin typeface="+mn-lt"/>
          <a:ea typeface="+mn-ea"/>
          <a:cs typeface="+mn-cs"/>
        </a:defRPr>
      </a:lvl1pPr>
      <a:lvl2pPr marL="557213" indent="-214313" algn="l" rtl="0" eaLnBrk="0" fontAlgn="base" hangingPunct="0">
        <a:spcBef>
          <a:spcPct val="20000"/>
        </a:spcBef>
        <a:spcAft>
          <a:spcPct val="0"/>
        </a:spcAft>
        <a:buClr>
          <a:schemeClr val="bg2"/>
        </a:buClr>
        <a:buSzPct val="80000"/>
        <a:buFont typeface="Wingdings" panose="05000000000000000000" pitchFamily="2" charset="2"/>
        <a:buChar char="q"/>
        <a:defRPr sz="2100">
          <a:solidFill>
            <a:schemeClr val="tx1"/>
          </a:solidFill>
          <a:latin typeface="+mn-lt"/>
          <a:ea typeface="+mn-ea"/>
        </a:defRPr>
      </a:lvl2pPr>
      <a:lvl3pPr marL="857250" indent="-171450" algn="l" rtl="0" eaLnBrk="0" fontAlgn="base" hangingPunct="0">
        <a:spcBef>
          <a:spcPct val="20000"/>
        </a:spcBef>
        <a:spcAft>
          <a:spcPct val="0"/>
        </a:spcAft>
        <a:buClr>
          <a:srgbClr val="A50021"/>
        </a:buClr>
        <a:buSzPct val="80000"/>
        <a:buFont typeface="Wingdings" panose="05000000000000000000" pitchFamily="2" charset="2"/>
        <a:buChar char="p"/>
        <a:defRPr sz="1800">
          <a:solidFill>
            <a:schemeClr val="tx1"/>
          </a:solidFill>
          <a:latin typeface="+mn-lt"/>
          <a:ea typeface="+mn-ea"/>
        </a:defRPr>
      </a:lvl3pPr>
      <a:lvl4pPr marL="1200150" indent="-171450" algn="l" rtl="0" eaLnBrk="0" fontAlgn="base" hangingPunct="0">
        <a:spcBef>
          <a:spcPct val="20000"/>
        </a:spcBef>
        <a:spcAft>
          <a:spcPct val="0"/>
        </a:spcAft>
        <a:buClr>
          <a:schemeClr val="bg2"/>
        </a:buClr>
        <a:buSzPct val="80000"/>
        <a:buFont typeface="Wingdings" panose="05000000000000000000" pitchFamily="2" charset="2"/>
        <a:buChar char="q"/>
        <a:defRPr sz="1500">
          <a:solidFill>
            <a:schemeClr val="tx1"/>
          </a:solidFill>
          <a:latin typeface="+mn-lt"/>
          <a:ea typeface="+mn-ea"/>
        </a:defRPr>
      </a:lvl4pPr>
      <a:lvl5pPr marL="1543050" indent="-171450" algn="l" rtl="0" eaLnBrk="0" fontAlgn="base" hangingPunct="0">
        <a:spcBef>
          <a:spcPct val="20000"/>
        </a:spcBef>
        <a:spcAft>
          <a:spcPct val="0"/>
        </a:spcAft>
        <a:buClr>
          <a:srgbClr val="A50021"/>
        </a:buClr>
        <a:buFont typeface="Wingdings" panose="05000000000000000000" pitchFamily="2" charset="2"/>
        <a:buChar char="l"/>
        <a:defRPr sz="1500">
          <a:solidFill>
            <a:schemeClr val="tx1"/>
          </a:solidFill>
          <a:latin typeface="+mn-lt"/>
          <a:ea typeface="+mn-ea"/>
        </a:defRPr>
      </a:lvl5pPr>
      <a:lvl6pPr marL="1885950" indent="-171450" algn="l" rtl="0" fontAlgn="base">
        <a:spcBef>
          <a:spcPct val="20000"/>
        </a:spcBef>
        <a:spcAft>
          <a:spcPct val="0"/>
        </a:spcAft>
        <a:buClr>
          <a:srgbClr val="A50021"/>
        </a:buClr>
        <a:buFont typeface="Wingdings" pitchFamily="2" charset="2"/>
        <a:buChar char="l"/>
        <a:defRPr sz="1500">
          <a:solidFill>
            <a:schemeClr val="tx1"/>
          </a:solidFill>
          <a:latin typeface="+mn-lt"/>
          <a:ea typeface="+mn-ea"/>
        </a:defRPr>
      </a:lvl6pPr>
      <a:lvl7pPr marL="2228850" indent="-171450" algn="l" rtl="0" fontAlgn="base">
        <a:spcBef>
          <a:spcPct val="20000"/>
        </a:spcBef>
        <a:spcAft>
          <a:spcPct val="0"/>
        </a:spcAft>
        <a:buClr>
          <a:srgbClr val="A50021"/>
        </a:buClr>
        <a:buFont typeface="Wingdings" pitchFamily="2" charset="2"/>
        <a:buChar char="l"/>
        <a:defRPr sz="1500">
          <a:solidFill>
            <a:schemeClr val="tx1"/>
          </a:solidFill>
          <a:latin typeface="+mn-lt"/>
          <a:ea typeface="+mn-ea"/>
        </a:defRPr>
      </a:lvl7pPr>
      <a:lvl8pPr marL="2571750" indent="-171450" algn="l" rtl="0" fontAlgn="base">
        <a:spcBef>
          <a:spcPct val="20000"/>
        </a:spcBef>
        <a:spcAft>
          <a:spcPct val="0"/>
        </a:spcAft>
        <a:buClr>
          <a:srgbClr val="A50021"/>
        </a:buClr>
        <a:buFont typeface="Wingdings" pitchFamily="2" charset="2"/>
        <a:buChar char="l"/>
        <a:defRPr sz="1500">
          <a:solidFill>
            <a:schemeClr val="tx1"/>
          </a:solidFill>
          <a:latin typeface="+mn-lt"/>
          <a:ea typeface="+mn-ea"/>
        </a:defRPr>
      </a:lvl8pPr>
      <a:lvl9pPr marL="2914650" indent="-171450" algn="l" rtl="0" fontAlgn="base">
        <a:spcBef>
          <a:spcPct val="20000"/>
        </a:spcBef>
        <a:spcAft>
          <a:spcPct val="0"/>
        </a:spcAft>
        <a:buClr>
          <a:srgbClr val="A50021"/>
        </a:buClr>
        <a:buFont typeface="Wingdings" pitchFamily="2" charset="2"/>
        <a:buChar char="l"/>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Box 5"/>
          <p:cNvSpPr txBox="1">
            <a:spLocks noChangeArrowheads="1"/>
          </p:cNvSpPr>
          <p:nvPr/>
        </p:nvSpPr>
        <p:spPr bwMode="auto">
          <a:xfrm>
            <a:off x="1" y="1182014"/>
            <a:ext cx="6858000" cy="1872208"/>
          </a:xfrm>
          <a:prstGeom prst="rect">
            <a:avLst/>
          </a:prstGeom>
          <a:solidFill>
            <a:srgbClr val="325AA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ts val="4500"/>
              </a:lnSpc>
            </a:pPr>
            <a:endParaRPr lang="zh-CN" altLang="en-US" sz="3600">
              <a:solidFill>
                <a:schemeClr val="bg1"/>
              </a:solidFill>
              <a:latin typeface="微软雅黑" panose="020B0503020204020204" pitchFamily="34" charset="-122"/>
              <a:ea typeface="微软雅黑" panose="020B0503020204020204" pitchFamily="34" charset="-122"/>
            </a:endParaRPr>
          </a:p>
        </p:txBody>
      </p:sp>
      <p:sp>
        <p:nvSpPr>
          <p:cNvPr id="48131" name="矩形 6"/>
          <p:cNvSpPr>
            <a:spLocks noChangeArrowheads="1"/>
          </p:cNvSpPr>
          <p:nvPr/>
        </p:nvSpPr>
        <p:spPr bwMode="auto">
          <a:xfrm>
            <a:off x="-34212" y="1728996"/>
            <a:ext cx="6858000" cy="11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ts val="4500"/>
              </a:lnSpc>
            </a:pPr>
            <a:r>
              <a:rPr lang="zh-CN" altLang="en-US" sz="30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基于女巫攻击预防技术的</a:t>
            </a:r>
            <a:endParaRPr lang="en-US" altLang="zh-CN" sz="30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a:p>
            <a:pPr algn="ctr" eaLnBrk="1" hangingPunct="1">
              <a:lnSpc>
                <a:spcPts val="4500"/>
              </a:lnSpc>
            </a:pPr>
            <a:r>
              <a:rPr lang="zh-CN" altLang="en-US" sz="30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电信网络诈骗团伙识别</a:t>
            </a:r>
            <a:endParaRPr lang="en-US" altLang="zh-CN" sz="30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Rectangle 9"/>
          <p:cNvSpPr>
            <a:spLocks noChangeArrowheads="1"/>
          </p:cNvSpPr>
          <p:nvPr/>
        </p:nvSpPr>
        <p:spPr bwMode="auto">
          <a:xfrm>
            <a:off x="10325" y="3490908"/>
            <a:ext cx="6768926" cy="941155"/>
          </a:xfrm>
          <a:prstGeom prst="rect">
            <a:avLst/>
          </a:prstGeom>
          <a:noFill/>
          <a:ln>
            <a:noFill/>
          </a:ln>
          <a:effectLst>
            <a:prstShdw prst="shdw17" dist="17961" dir="2700000">
              <a:srgbClr val="375D8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pPr algn="ctr" eaLnBrk="1" hangingPunct="1">
              <a:lnSpc>
                <a:spcPct val="120000"/>
              </a:lnSpc>
              <a:defRPr/>
            </a:pPr>
            <a:r>
              <a:rPr lang="zh-CN" altLang="en-US"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任泽华</a:t>
            </a:r>
            <a:endParaRPr lang="en-US" altLang="zh-CN"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p>
            <a:pPr algn="ctr" eaLnBrk="1" hangingPunct="1">
              <a:lnSpc>
                <a:spcPct val="120000"/>
              </a:lnSpc>
              <a:defRPr/>
            </a:pPr>
            <a:r>
              <a:rPr lang="en-US" altLang="zh-CN"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2020</a:t>
            </a:r>
            <a:r>
              <a:rPr lang="zh-CN" altLang="en-US"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年</a:t>
            </a:r>
            <a:r>
              <a:rPr lang="en-US" altLang="zh-CN"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12</a:t>
            </a:r>
            <a:r>
              <a:rPr lang="zh-CN" altLang="en-US"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月</a:t>
            </a:r>
            <a:r>
              <a:rPr lang="en-US" altLang="zh-CN"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14</a:t>
            </a:r>
            <a:r>
              <a:rPr lang="zh-CN" altLang="en-US"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日</a:t>
            </a:r>
            <a:endParaRPr lang="en-US" altLang="zh-CN" sz="2400" kern="0" dirty="0">
              <a:solidFill>
                <a:srgbClr val="0070C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组合 6"/>
          <p:cNvGrpSpPr>
            <a:grpSpLocks/>
          </p:cNvGrpSpPr>
          <p:nvPr/>
        </p:nvGrpSpPr>
        <p:grpSpPr bwMode="auto">
          <a:xfrm>
            <a:off x="641350" y="1362075"/>
            <a:ext cx="1673225" cy="1674813"/>
            <a:chOff x="1330026" y="1365494"/>
            <a:chExt cx="3395626" cy="3395626"/>
          </a:xfrm>
        </p:grpSpPr>
        <p:grpSp>
          <p:nvGrpSpPr>
            <p:cNvPr id="54322" name="组合 2"/>
            <p:cNvGrpSpPr>
              <a:grpSpLocks/>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sp>
            <p:nvSpPr>
              <p:cNvPr id="5" name="椭圆 4"/>
              <p:cNvSpPr>
                <a:spLocks noChangeAspect="1"/>
              </p:cNvSpPr>
              <p:nvPr/>
            </p:nvSpPr>
            <p:spPr>
              <a:xfrm>
                <a:off x="1249500" y="2303602"/>
                <a:ext cx="2016000" cy="2016408"/>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grpSp>
        <p:pic>
          <p:nvPicPr>
            <p:cNvPr id="54323"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1240"/>
            <a:ext cx="810000" cy="81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sp>
        <p:nvSpPr>
          <p:cNvPr id="9" name="直角三角形 8"/>
          <p:cNvSpPr/>
          <p:nvPr/>
        </p:nvSpPr>
        <p:spPr>
          <a:xfrm rot="16200000">
            <a:off x="6048000" y="4333500"/>
            <a:ext cx="810000" cy="81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grpSp>
        <p:nvGrpSpPr>
          <p:cNvPr id="54281" name="组合 5"/>
          <p:cNvGrpSpPr>
            <a:grpSpLocks/>
          </p:cNvGrpSpPr>
          <p:nvPr/>
        </p:nvGrpSpPr>
        <p:grpSpPr bwMode="auto">
          <a:xfrm>
            <a:off x="2815853" y="883598"/>
            <a:ext cx="3660775" cy="515938"/>
            <a:chOff x="3507234" y="1752600"/>
            <a:chExt cx="4881189" cy="688579"/>
          </a:xfrm>
        </p:grpSpPr>
        <p:grpSp>
          <p:nvGrpSpPr>
            <p:cNvPr id="54313" name="Group 5"/>
            <p:cNvGrpSpPr>
              <a:grpSpLocks/>
            </p:cNvGrpSpPr>
            <p:nvPr/>
          </p:nvGrpSpPr>
          <p:grpSpPr bwMode="auto">
            <a:xfrm>
              <a:off x="3507234" y="1752600"/>
              <a:ext cx="762000" cy="665163"/>
              <a:chOff x="0" y="0"/>
              <a:chExt cx="1549" cy="1351"/>
            </a:xfrm>
          </p:grpSpPr>
          <p:sp>
            <p:nvSpPr>
              <p:cNvPr id="54317"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4318"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4319" name="AutoShape 8"/>
              <p:cNvGrpSpPr>
                <a:grpSpLocks/>
              </p:cNvGrpSpPr>
              <p:nvPr/>
            </p:nvGrpSpPr>
            <p:grpSpPr bwMode="auto">
              <a:xfrm>
                <a:off x="68" y="54"/>
                <a:ext cx="1400" cy="1213"/>
                <a:chOff x="0" y="0"/>
                <a:chExt cx="688848" cy="597408"/>
              </a:xfrm>
            </p:grpSpPr>
            <p:pic>
              <p:nvPicPr>
                <p:cNvPr id="54320" name="AutoShape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21"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4314" name="Line 13"/>
            <p:cNvSpPr>
              <a:spLocks noChangeShapeType="1"/>
            </p:cNvSpPr>
            <p:nvPr/>
          </p:nvSpPr>
          <p:spPr bwMode="auto">
            <a:xfrm>
              <a:off x="4116834" y="2359025"/>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4315" name="Text Box 15"/>
            <p:cNvSpPr txBox="1">
              <a:spLocks noChangeArrowheads="1"/>
            </p:cNvSpPr>
            <p:nvPr/>
          </p:nvSpPr>
          <p:spPr bwMode="auto">
            <a:xfrm>
              <a:off x="3631877" y="182562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1</a:t>
              </a:r>
            </a:p>
          </p:txBody>
        </p:sp>
        <p:sp>
          <p:nvSpPr>
            <p:cNvPr id="54316" name="Text Box 17"/>
            <p:cNvSpPr txBox="1">
              <a:spLocks noChangeArrowheads="1"/>
            </p:cNvSpPr>
            <p:nvPr/>
          </p:nvSpPr>
          <p:spPr bwMode="auto">
            <a:xfrm>
              <a:off x="4231445" y="1772815"/>
              <a:ext cx="4156978"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0000"/>
                  </a:solidFill>
                  <a:latin typeface="Tahoma" panose="020B0604030504040204" pitchFamily="34" charset="0"/>
                  <a:ea typeface="微软雅黑" panose="020B0503020204020204" pitchFamily="34" charset="-122"/>
                </a:rPr>
                <a:t>研究背景</a:t>
              </a:r>
            </a:p>
          </p:txBody>
        </p:sp>
      </p:grpSp>
      <p:sp>
        <p:nvSpPr>
          <p:cNvPr id="54282" name="矩形 1"/>
          <p:cNvSpPr>
            <a:spLocks noChangeArrowheads="1"/>
          </p:cNvSpPr>
          <p:nvPr/>
        </p:nvSpPr>
        <p:spPr bwMode="auto">
          <a:xfrm>
            <a:off x="692150" y="3163888"/>
            <a:ext cx="15700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700" b="1" dirty="0">
                <a:solidFill>
                  <a:srgbClr val="325AA1"/>
                </a:solidFill>
                <a:latin typeface="微软雅黑" panose="020B0503020204020204" pitchFamily="34" charset="-122"/>
                <a:ea typeface="微软雅黑" panose="020B0503020204020204" pitchFamily="34" charset="-122"/>
              </a:rPr>
              <a:t>报告内容</a:t>
            </a:r>
          </a:p>
        </p:txBody>
      </p:sp>
      <p:grpSp>
        <p:nvGrpSpPr>
          <p:cNvPr id="54284" name="组合 29"/>
          <p:cNvGrpSpPr>
            <a:grpSpLocks/>
          </p:cNvGrpSpPr>
          <p:nvPr/>
        </p:nvGrpSpPr>
        <p:grpSpPr bwMode="auto">
          <a:xfrm>
            <a:off x="2815853" y="2286596"/>
            <a:ext cx="3238281" cy="536575"/>
            <a:chOff x="3507234" y="2813050"/>
            <a:chExt cx="4319405" cy="713979"/>
          </a:xfrm>
        </p:grpSpPr>
        <p:grpSp>
          <p:nvGrpSpPr>
            <p:cNvPr id="54295" name="Group 9"/>
            <p:cNvGrpSpPr>
              <a:grpSpLocks/>
            </p:cNvGrpSpPr>
            <p:nvPr/>
          </p:nvGrpSpPr>
          <p:grpSpPr bwMode="auto">
            <a:xfrm>
              <a:off x="3507234" y="2813050"/>
              <a:ext cx="762000" cy="665163"/>
              <a:chOff x="0" y="0"/>
              <a:chExt cx="1549" cy="1351"/>
            </a:xfrm>
          </p:grpSpPr>
          <p:sp>
            <p:nvSpPr>
              <p:cNvPr id="54299"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4300"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4301" name="AutoShape 12"/>
              <p:cNvGrpSpPr>
                <a:grpSpLocks/>
              </p:cNvGrpSpPr>
              <p:nvPr/>
            </p:nvGrpSpPr>
            <p:grpSpPr bwMode="auto">
              <a:xfrm>
                <a:off x="68" y="54"/>
                <a:ext cx="1400" cy="1213"/>
                <a:chOff x="0" y="0"/>
                <a:chExt cx="688848" cy="597408"/>
              </a:xfrm>
            </p:grpSpPr>
            <p:pic>
              <p:nvPicPr>
                <p:cNvPr id="54302" name="AutoShap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03"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4296" name="Line 16"/>
            <p:cNvSpPr>
              <a:spLocks noChangeShapeType="1"/>
            </p:cNvSpPr>
            <p:nvPr/>
          </p:nvSpPr>
          <p:spPr bwMode="auto">
            <a:xfrm>
              <a:off x="4116834" y="3422650"/>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4297" name="Text Box 18"/>
            <p:cNvSpPr txBox="1">
              <a:spLocks noChangeArrowheads="1"/>
            </p:cNvSpPr>
            <p:nvPr/>
          </p:nvSpPr>
          <p:spPr bwMode="auto">
            <a:xfrm>
              <a:off x="3631877" y="291147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a:t>
              </a:r>
            </a:p>
          </p:txBody>
        </p:sp>
        <p:sp>
          <p:nvSpPr>
            <p:cNvPr id="54298" name="Text Box 24"/>
            <p:cNvSpPr txBox="1">
              <a:spLocks noChangeArrowheads="1"/>
            </p:cNvSpPr>
            <p:nvPr/>
          </p:nvSpPr>
          <p:spPr bwMode="auto">
            <a:xfrm>
              <a:off x="4229036" y="2822553"/>
              <a:ext cx="3597603" cy="61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400" b="1" dirty="0">
                  <a:solidFill>
                    <a:srgbClr val="31589C"/>
                  </a:solidFill>
                  <a:latin typeface="Tahoma" panose="020B0604030504040204" pitchFamily="34" charset="0"/>
                  <a:ea typeface="微软雅黑" panose="020B0503020204020204" pitchFamily="34" charset="-122"/>
                </a:rPr>
                <a:t>研究内容</a:t>
              </a:r>
            </a:p>
          </p:txBody>
        </p:sp>
      </p:grpSp>
      <p:grpSp>
        <p:nvGrpSpPr>
          <p:cNvPr id="50" name="组合 29"/>
          <p:cNvGrpSpPr>
            <a:grpSpLocks/>
          </p:cNvGrpSpPr>
          <p:nvPr/>
        </p:nvGrpSpPr>
        <p:grpSpPr bwMode="auto">
          <a:xfrm>
            <a:off x="2819149" y="3649605"/>
            <a:ext cx="3240088" cy="536575"/>
            <a:chOff x="3507234" y="2813050"/>
            <a:chExt cx="4321816" cy="713979"/>
          </a:xfrm>
        </p:grpSpPr>
        <p:grpSp>
          <p:nvGrpSpPr>
            <p:cNvPr id="51" name="Group 9"/>
            <p:cNvGrpSpPr>
              <a:grpSpLocks/>
            </p:cNvGrpSpPr>
            <p:nvPr/>
          </p:nvGrpSpPr>
          <p:grpSpPr bwMode="auto">
            <a:xfrm>
              <a:off x="3507234" y="2813050"/>
              <a:ext cx="762000" cy="665163"/>
              <a:chOff x="0" y="0"/>
              <a:chExt cx="1549" cy="1351"/>
            </a:xfrm>
          </p:grpSpPr>
          <p:sp>
            <p:nvSpPr>
              <p:cNvPr id="55"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6"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7" name="AutoShape 12"/>
              <p:cNvGrpSpPr>
                <a:grpSpLocks/>
              </p:cNvGrpSpPr>
              <p:nvPr/>
            </p:nvGrpSpPr>
            <p:grpSpPr bwMode="auto">
              <a:xfrm>
                <a:off x="68" y="54"/>
                <a:ext cx="1400" cy="1213"/>
                <a:chOff x="0" y="0"/>
                <a:chExt cx="688848" cy="597408"/>
              </a:xfrm>
            </p:grpSpPr>
            <p:pic>
              <p:nvPicPr>
                <p:cNvPr id="58" name="AutoShap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2" name="Line 16"/>
            <p:cNvSpPr>
              <a:spLocks noChangeShapeType="1"/>
            </p:cNvSpPr>
            <p:nvPr/>
          </p:nvSpPr>
          <p:spPr bwMode="auto">
            <a:xfrm>
              <a:off x="4116834" y="3422650"/>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3" name="Text Box 18"/>
            <p:cNvSpPr txBox="1">
              <a:spLocks noChangeArrowheads="1"/>
            </p:cNvSpPr>
            <p:nvPr/>
          </p:nvSpPr>
          <p:spPr bwMode="auto">
            <a:xfrm>
              <a:off x="3631877" y="291147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3</a:t>
              </a:r>
            </a:p>
          </p:txBody>
        </p:sp>
        <p:sp>
          <p:nvSpPr>
            <p:cNvPr id="54" name="Text Box 24"/>
            <p:cNvSpPr txBox="1">
              <a:spLocks noChangeArrowheads="1"/>
            </p:cNvSpPr>
            <p:nvPr/>
          </p:nvSpPr>
          <p:spPr bwMode="auto">
            <a:xfrm>
              <a:off x="4231447" y="2846107"/>
              <a:ext cx="3597603" cy="61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400" b="1" dirty="0">
                  <a:solidFill>
                    <a:srgbClr val="31589C"/>
                  </a:solidFill>
                  <a:latin typeface="Tahoma" panose="020B0604030504040204" pitchFamily="34" charset="0"/>
                  <a:ea typeface="微软雅黑" panose="020B0503020204020204" pitchFamily="34" charset="-122"/>
                </a:rPr>
                <a:t>结论展望</a:t>
              </a:r>
            </a:p>
          </p:txBody>
        </p:sp>
      </p:grpSp>
    </p:spTree>
    <p:extLst>
      <p:ext uri="{BB962C8B-B14F-4D97-AF65-F5344CB8AC3E}">
        <p14:creationId xmlns:p14="http://schemas.microsoft.com/office/powerpoint/2010/main" val="324589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C10727A-03B1-5642-A459-150C7BFCE926}"/>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研究背景</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2FC4A92-0FED-3142-9588-D888FBFFA703}"/>
              </a:ext>
            </a:extLst>
          </p:cNvPr>
          <p:cNvSpPr txBox="1"/>
          <p:nvPr/>
        </p:nvSpPr>
        <p:spPr>
          <a:xfrm>
            <a:off x="548680" y="610984"/>
            <a:ext cx="3839804" cy="1800493"/>
          </a:xfrm>
          <a:prstGeom prst="rect">
            <a:avLst/>
          </a:prstGeom>
          <a:noFill/>
        </p:spPr>
        <p:txBody>
          <a:bodyPr wrap="square" rtlCol="0">
            <a:spAutoFit/>
          </a:bodyPr>
          <a:lstStyle/>
          <a:p>
            <a:pPr marL="285750" indent="-285750">
              <a:buFont typeface="Wingdings" pitchFamily="2" charset="2"/>
              <a:buChar char="n"/>
            </a:pPr>
            <a:r>
              <a:rPr lang="zh-CN" altLang="en-US" sz="2000" b="1" dirty="0"/>
              <a:t>社交网络安全现状</a:t>
            </a:r>
            <a:endParaRPr lang="en-US" altLang="zh-CN" sz="2000" b="1" dirty="0"/>
          </a:p>
          <a:p>
            <a:r>
              <a:rPr lang="en-US" altLang="zh-CN" sz="800" kern="100" dirty="0">
                <a:effectLst/>
                <a:latin typeface="等线" panose="02010600030101010101" pitchFamily="2" charset="-122"/>
                <a:ea typeface="宋体" panose="02010600030101010101" pitchFamily="2" charset="-122"/>
                <a:cs typeface="Times New Roman" panose="02020603050405020304" pitchFamily="18" charset="0"/>
              </a:rPr>
              <a:t>     </a:t>
            </a:r>
          </a:p>
          <a:p>
            <a:r>
              <a:rPr lang="en-US" altLang="zh-CN" sz="1600" kern="100" dirty="0">
                <a:latin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随着通信技术的革新与互联网的兴起，网络诈骗愈发猖獗。网络诈骗总是呈现出团伙诈骗的形式，这与人们的信任模式有很大的关系</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a:t>
            </a:r>
            <a:endPar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endParaRPr>
          </a:p>
          <a:p>
            <a:r>
              <a:rPr lang="en-US" altLang="zh-CN" sz="1600" kern="100" dirty="0">
                <a:latin typeface="等线" panose="02010600030101010101" pitchFamily="2" charset="-122"/>
                <a:cs typeface="Times New Roman" panose="02020603050405020304" pitchFamily="18" charset="0"/>
              </a:rPr>
              <a:t>   </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人们或多或少拥有从众的心理。</a:t>
            </a:r>
            <a:endParaRPr kumimoji="1" lang="en-US" altLang="zh-CN" sz="1600" dirty="0"/>
          </a:p>
        </p:txBody>
      </p:sp>
      <p:sp>
        <p:nvSpPr>
          <p:cNvPr id="6" name="矩形 5">
            <a:extLst>
              <a:ext uri="{FF2B5EF4-FFF2-40B4-BE49-F238E27FC236}">
                <a16:creationId xmlns:a16="http://schemas.microsoft.com/office/drawing/2014/main" id="{9ABCC9FC-C5D2-4A4A-88FE-8F4C3E15B99F}"/>
              </a:ext>
            </a:extLst>
          </p:cNvPr>
          <p:cNvSpPr/>
          <p:nvPr/>
        </p:nvSpPr>
        <p:spPr>
          <a:xfrm>
            <a:off x="548680" y="2404237"/>
            <a:ext cx="5856028" cy="1538883"/>
          </a:xfrm>
          <a:prstGeom prst="rect">
            <a:avLst/>
          </a:prstGeom>
        </p:spPr>
        <p:txBody>
          <a:bodyPr wrap="square">
            <a:spAutoFit/>
          </a:bodyPr>
          <a:lstStyle/>
          <a:p>
            <a:pPr marL="285750" indent="-285750">
              <a:buFont typeface="Wingdings" pitchFamily="2" charset="2"/>
              <a:buChar char="n"/>
            </a:pPr>
            <a:r>
              <a:rPr kumimoji="1" lang="zh-CN" altLang="en-US" sz="2000" b="1" dirty="0"/>
              <a:t>现有的社交网络诈骗检测方法</a:t>
            </a:r>
            <a:endParaRPr kumimoji="1" lang="en-US" altLang="zh-CN" sz="2000" b="1" dirty="0"/>
          </a:p>
          <a:p>
            <a:r>
              <a:rPr lang="en-US" altLang="zh-CN" sz="800" kern="100" dirty="0">
                <a:effectLst/>
                <a:latin typeface="等线" panose="02010600030101010101" pitchFamily="2" charset="-122"/>
                <a:ea typeface="宋体" panose="02010600030101010101" pitchFamily="2" charset="-122"/>
                <a:cs typeface="Times New Roman" panose="02020603050405020304" pitchFamily="18" charset="0"/>
              </a:rPr>
              <a:t> </a:t>
            </a:r>
            <a:endParaRPr kumimoji="1" lang="en-US" altLang="zh-CN" sz="800" b="1" dirty="0"/>
          </a:p>
          <a:p>
            <a:pPr marL="285750" indent="-285750">
              <a:buFont typeface="Wingdings" pitchFamily="2" charset="2"/>
              <a:buChar char="Ø"/>
            </a:pPr>
            <a:r>
              <a:rPr kumimoji="1" lang="zh-CN" altLang="en-US" sz="1600" dirty="0"/>
              <a:t>利用有向图模型的欺诈账户检测（</a:t>
            </a:r>
            <a:r>
              <a:rPr kumimoji="1" lang="zh-CN" altLang="en-US" sz="1600" b="1" dirty="0">
                <a:solidFill>
                  <a:srgbClr val="FF0000"/>
                </a:solidFill>
              </a:rPr>
              <a:t>图分析</a:t>
            </a:r>
            <a:r>
              <a:rPr kumimoji="1" lang="zh-CN" altLang="en-US" sz="1600" dirty="0"/>
              <a:t>）</a:t>
            </a:r>
            <a:r>
              <a:rPr lang="zh-CN" altLang="zh-CN" sz="1600" dirty="0"/>
              <a:t>。</a:t>
            </a:r>
          </a:p>
          <a:p>
            <a:pPr marL="285750" indent="-285750">
              <a:buFont typeface="Wingdings" pitchFamily="2" charset="2"/>
              <a:buChar char="Ø"/>
            </a:pPr>
            <a:r>
              <a:rPr lang="zh-CN" altLang="en-US" sz="1600" dirty="0"/>
              <a:t>针对用户行为特征的欺诈检测（</a:t>
            </a:r>
            <a:r>
              <a:rPr lang="zh-CN" altLang="en-US" sz="1600" b="1" dirty="0">
                <a:solidFill>
                  <a:srgbClr val="FF0000"/>
                </a:solidFill>
              </a:rPr>
              <a:t>机器学习等方法</a:t>
            </a:r>
            <a:r>
              <a:rPr lang="zh-CN" altLang="en-US" sz="1600" dirty="0"/>
              <a:t>）。</a:t>
            </a:r>
            <a:endParaRPr lang="en-US" altLang="zh-CN" sz="1600" dirty="0"/>
          </a:p>
          <a:p>
            <a:pPr marL="285750" indent="-285750">
              <a:buFont typeface="Wingdings" pitchFamily="2" charset="2"/>
              <a:buChar char="Ø"/>
            </a:pPr>
            <a:r>
              <a:rPr lang="zh-CN" altLang="en-US" sz="1600" dirty="0"/>
              <a:t>大规模社交网络社区的检测方法（</a:t>
            </a:r>
            <a:r>
              <a:rPr lang="zh-CN" altLang="en-US" sz="1600" b="1" dirty="0">
                <a:solidFill>
                  <a:srgbClr val="FF0000"/>
                </a:solidFill>
              </a:rPr>
              <a:t>团伙社区发现</a:t>
            </a:r>
            <a:r>
              <a:rPr lang="zh-CN" altLang="en-US" sz="1600" dirty="0"/>
              <a:t>）。</a:t>
            </a:r>
            <a:endParaRPr lang="en-US" altLang="zh-CN" sz="1600" dirty="0"/>
          </a:p>
          <a:p>
            <a:pPr marL="285750" indent="-285750">
              <a:buFont typeface="Wingdings" pitchFamily="2" charset="2"/>
              <a:buChar char="Ø"/>
            </a:pPr>
            <a:r>
              <a:rPr lang="en-US" altLang="zh-CN" sz="1600" dirty="0"/>
              <a:t>P2P</a:t>
            </a:r>
            <a:r>
              <a:rPr lang="zh-CN" altLang="en-US" sz="1600" dirty="0"/>
              <a:t>网络的欺诈团伙检测方法（</a:t>
            </a:r>
            <a:r>
              <a:rPr lang="zh-CN" altLang="en-US" sz="1600" b="1" dirty="0">
                <a:solidFill>
                  <a:srgbClr val="FF0000"/>
                </a:solidFill>
              </a:rPr>
              <a:t>分布式网络检测</a:t>
            </a:r>
            <a:r>
              <a:rPr lang="zh-CN" altLang="en-US" sz="1600" dirty="0"/>
              <a:t>）。</a:t>
            </a:r>
            <a:endParaRPr lang="en-US" altLang="zh-CN" sz="1600" dirty="0"/>
          </a:p>
        </p:txBody>
      </p:sp>
      <p:pic>
        <p:nvPicPr>
          <p:cNvPr id="4" name="图片 3">
            <a:extLst>
              <a:ext uri="{FF2B5EF4-FFF2-40B4-BE49-F238E27FC236}">
                <a16:creationId xmlns:a16="http://schemas.microsoft.com/office/drawing/2014/main" id="{2E561378-4ADB-4557-ACC7-D4A6528C0389}"/>
              </a:ext>
            </a:extLst>
          </p:cNvPr>
          <p:cNvPicPr>
            <a:picLocks noChangeAspect="1"/>
          </p:cNvPicPr>
          <p:nvPr/>
        </p:nvPicPr>
        <p:blipFill>
          <a:blip r:embed="rId2"/>
          <a:stretch>
            <a:fillRect/>
          </a:stretch>
        </p:blipFill>
        <p:spPr>
          <a:xfrm>
            <a:off x="4460492" y="992675"/>
            <a:ext cx="1661170" cy="1162819"/>
          </a:xfrm>
          <a:prstGeom prst="rect">
            <a:avLst/>
          </a:prstGeom>
        </p:spPr>
      </p:pic>
      <p:sp>
        <p:nvSpPr>
          <p:cNvPr id="8" name="文本框 7">
            <a:extLst>
              <a:ext uri="{FF2B5EF4-FFF2-40B4-BE49-F238E27FC236}">
                <a16:creationId xmlns:a16="http://schemas.microsoft.com/office/drawing/2014/main" id="{4413EF24-6024-4C79-8EF6-267E925A4FC3}"/>
              </a:ext>
            </a:extLst>
          </p:cNvPr>
          <p:cNvSpPr txBox="1"/>
          <p:nvPr/>
        </p:nvSpPr>
        <p:spPr>
          <a:xfrm>
            <a:off x="548680" y="3920491"/>
            <a:ext cx="5760640" cy="861774"/>
          </a:xfrm>
          <a:prstGeom prst="rect">
            <a:avLst/>
          </a:prstGeom>
          <a:noFill/>
        </p:spPr>
        <p:txBody>
          <a:bodyPr wrap="square">
            <a:spAutoFit/>
          </a:bodyPr>
          <a:lstStyle/>
          <a:p>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600" b="1" kern="100" dirty="0">
                <a:solidFill>
                  <a:srgbClr val="FF0000"/>
                </a:solidFill>
                <a:effectLst/>
                <a:latin typeface="等线" panose="02010600030101010101" pitchFamily="2" charset="-122"/>
                <a:ea typeface="宋体" panose="02010600030101010101" pitchFamily="2" charset="-122"/>
                <a:cs typeface="Times New Roman" panose="02020603050405020304" pitchFamily="18" charset="0"/>
              </a:rPr>
              <a:t>女巫攻击</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单节点对外表现出多重身份的攻击行为。</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此</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模式和诈骗团伙极为相似，若迁移到当前情景下进行诈骗团伙的检测，将对于解决这一问题做出极大贡献。</a:t>
            </a:r>
            <a:endParaRPr lang="zh-CN" altLang="en-US" dirty="0"/>
          </a:p>
        </p:txBody>
      </p:sp>
      <p:sp>
        <p:nvSpPr>
          <p:cNvPr id="9" name="文本框 8">
            <a:extLst>
              <a:ext uri="{FF2B5EF4-FFF2-40B4-BE49-F238E27FC236}">
                <a16:creationId xmlns:a16="http://schemas.microsoft.com/office/drawing/2014/main" id="{390C18DA-FD1F-4C09-9DB3-A518D6D23DBC}"/>
              </a:ext>
            </a:extLst>
          </p:cNvPr>
          <p:cNvSpPr txBox="1"/>
          <p:nvPr/>
        </p:nvSpPr>
        <p:spPr>
          <a:xfrm>
            <a:off x="6260692" y="4536458"/>
            <a:ext cx="288032" cy="369332"/>
          </a:xfrm>
          <a:prstGeom prst="rect">
            <a:avLst/>
          </a:prstGeom>
          <a:noFill/>
        </p:spPr>
        <p:txBody>
          <a:bodyPr wrap="square" rtlCol="0">
            <a:spAutoFit/>
          </a:bodyPr>
          <a:lstStyle/>
          <a:p>
            <a:r>
              <a:rPr lang="en-US" altLang="zh-CN" dirty="0"/>
              <a:t>3</a:t>
            </a:r>
            <a:endParaRPr lang="zh-CN" altLang="en-US" dirty="0"/>
          </a:p>
        </p:txBody>
      </p:sp>
    </p:spTree>
    <p:extLst>
      <p:ext uri="{BB962C8B-B14F-4D97-AF65-F5344CB8AC3E}">
        <p14:creationId xmlns:p14="http://schemas.microsoft.com/office/powerpoint/2010/main" val="4100722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C10727A-03B1-5642-A459-150C7BFCE926}"/>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研究背景</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2FC4A92-0FED-3142-9588-D888FBFFA703}"/>
              </a:ext>
            </a:extLst>
          </p:cNvPr>
          <p:cNvSpPr txBox="1"/>
          <p:nvPr/>
        </p:nvSpPr>
        <p:spPr>
          <a:xfrm>
            <a:off x="404664" y="610984"/>
            <a:ext cx="4248472" cy="2123658"/>
          </a:xfrm>
          <a:prstGeom prst="rect">
            <a:avLst/>
          </a:prstGeom>
          <a:noFill/>
        </p:spPr>
        <p:txBody>
          <a:bodyPr wrap="square" rtlCol="0">
            <a:spAutoFit/>
          </a:bodyPr>
          <a:lstStyle/>
          <a:p>
            <a:pPr marL="285750" indent="-285750">
              <a:buFont typeface="Wingdings" pitchFamily="2" charset="2"/>
              <a:buChar char="n"/>
            </a:pPr>
            <a:r>
              <a:rPr kumimoji="1" lang="zh-CN" altLang="en-US" sz="2000" b="1" dirty="0"/>
              <a:t>女巫攻击</a:t>
            </a:r>
            <a:endParaRPr kumimoji="1" lang="en-US" altLang="zh-CN" sz="2000" b="1" dirty="0"/>
          </a:p>
          <a:p>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微软研究院的</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Douceur</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教授在</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2002</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年的</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文章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The Sybil Attack</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》中首先提出</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被认为是</a:t>
            </a:r>
            <a:r>
              <a:rPr lang="zh-CN" altLang="zh-CN" sz="1600" kern="100" dirty="0">
                <a:latin typeface="等线" panose="02010600030101010101" pitchFamily="2" charset="-122"/>
                <a:cs typeface="Times New Roman" panose="02020603050405020304" pitchFamily="18" charset="0"/>
              </a:rPr>
              <a:t>基于对等（</a:t>
            </a:r>
            <a:r>
              <a:rPr lang="en-US" altLang="zh-CN" sz="1600" kern="100" dirty="0">
                <a:latin typeface="等线" panose="02010600030101010101" pitchFamily="2" charset="-122"/>
                <a:cs typeface="Times New Roman" panose="02020603050405020304" pitchFamily="18" charset="0"/>
              </a:rPr>
              <a:t>P2P</a:t>
            </a:r>
            <a:r>
              <a:rPr lang="zh-CN" altLang="zh-CN" sz="1600" kern="100" dirty="0">
                <a:latin typeface="等线" panose="02010600030101010101" pitchFamily="2" charset="-122"/>
                <a:cs typeface="Times New Roman" panose="02020603050405020304" pitchFamily="18" charset="0"/>
              </a:rPr>
              <a:t>）网络的</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一种基本</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攻击</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形式。</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a:t>
            </a:r>
          </a:p>
          <a:p>
            <a:r>
              <a:rPr lang="en-US" altLang="zh-CN" sz="1600" kern="100" dirty="0">
                <a:latin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它的主要表现方式为：</a:t>
            </a:r>
            <a:r>
              <a:rPr lang="zh-CN" altLang="zh-CN" sz="1600" b="1" kern="100" dirty="0">
                <a:solidFill>
                  <a:srgbClr val="FF0000"/>
                </a:solidFill>
                <a:effectLst/>
                <a:latin typeface="等线" panose="02010600030101010101" pitchFamily="2" charset="-122"/>
                <a:ea typeface="宋体" panose="02010600030101010101" pitchFamily="2" charset="-122"/>
                <a:cs typeface="Times New Roman" panose="02020603050405020304" pitchFamily="18" charset="0"/>
              </a:rPr>
              <a:t>单一节点具有多重身份标识</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，通过控制系统中大部分节点来达到削弱网络冗余性、降低网络健壮性、破坏网络正常活动、盗取其他节点个人信息等目的。</a:t>
            </a:r>
            <a:endPar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11CF884C-C9B6-4671-864B-A532044DBC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9160" y="915566"/>
            <a:ext cx="1309171" cy="1944216"/>
          </a:xfrm>
          <a:prstGeom prst="rect">
            <a:avLst/>
          </a:prstGeom>
        </p:spPr>
      </p:pic>
      <p:pic>
        <p:nvPicPr>
          <p:cNvPr id="13" name="图片 12">
            <a:extLst>
              <a:ext uri="{FF2B5EF4-FFF2-40B4-BE49-F238E27FC236}">
                <a16:creationId xmlns:a16="http://schemas.microsoft.com/office/drawing/2014/main" id="{0A000DF7-08A2-4A16-8DDF-89C7B96CF045}"/>
              </a:ext>
            </a:extLst>
          </p:cNvPr>
          <p:cNvPicPr>
            <a:picLocks noChangeAspect="1"/>
          </p:cNvPicPr>
          <p:nvPr/>
        </p:nvPicPr>
        <p:blipFill>
          <a:blip r:embed="rId3"/>
          <a:stretch>
            <a:fillRect/>
          </a:stretch>
        </p:blipFill>
        <p:spPr>
          <a:xfrm>
            <a:off x="476672" y="2853872"/>
            <a:ext cx="2643658" cy="1678250"/>
          </a:xfrm>
          <a:prstGeom prst="rect">
            <a:avLst/>
          </a:prstGeom>
        </p:spPr>
      </p:pic>
      <p:sp>
        <p:nvSpPr>
          <p:cNvPr id="14" name="文本框 13">
            <a:extLst>
              <a:ext uri="{FF2B5EF4-FFF2-40B4-BE49-F238E27FC236}">
                <a16:creationId xmlns:a16="http://schemas.microsoft.com/office/drawing/2014/main" id="{DC16E88A-D98F-4DD5-AC32-973DFADBFD27}"/>
              </a:ext>
            </a:extLst>
          </p:cNvPr>
          <p:cNvSpPr txBox="1"/>
          <p:nvPr/>
        </p:nvSpPr>
        <p:spPr>
          <a:xfrm>
            <a:off x="3208909" y="2859782"/>
            <a:ext cx="3316435" cy="1877437"/>
          </a:xfrm>
          <a:prstGeom prst="rect">
            <a:avLst/>
          </a:prstGeom>
          <a:noFill/>
        </p:spPr>
        <p:txBody>
          <a:bodyPr wrap="square" rtlCol="0">
            <a:spAutoFit/>
          </a:bodyPr>
          <a:lstStyle/>
          <a:p>
            <a:pPr marL="285750" indent="-285750">
              <a:buFont typeface="Wingdings" pitchFamily="2" charset="2"/>
              <a:buChar char="n"/>
            </a:pPr>
            <a:r>
              <a:rPr kumimoji="1" lang="zh-CN" altLang="en-US" sz="2000" b="1" dirty="0"/>
              <a:t>模型概述</a:t>
            </a:r>
            <a:endParaRPr kumimoji="1" lang="en-US" altLang="zh-CN" sz="2000" b="1" dirty="0"/>
          </a:p>
          <a:p>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每个节点表示一个账户，每条边表示两个账户建立了信任关系。</a:t>
            </a:r>
            <a:endPar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endParaRPr>
          </a:p>
          <a:p>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    节点分为普通</a:t>
            </a:r>
            <a:r>
              <a:rPr lang="zh-CN" altLang="en-US" sz="1600" b="1" kern="100" dirty="0">
                <a:solidFill>
                  <a:srgbClr val="FF0000"/>
                </a:solidFill>
                <a:effectLst/>
                <a:latin typeface="等线" panose="02010600030101010101" pitchFamily="2" charset="-122"/>
                <a:ea typeface="宋体" panose="02010600030101010101" pitchFamily="2" charset="-122"/>
                <a:cs typeface="Times New Roman" panose="02020603050405020304" pitchFamily="18" charset="0"/>
              </a:rPr>
              <a:t>诚实节点</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en-US" sz="1600" b="1" kern="100" dirty="0">
                <a:solidFill>
                  <a:srgbClr val="FF0000"/>
                </a:solidFill>
                <a:effectLst/>
                <a:latin typeface="等线" panose="02010600030101010101" pitchFamily="2" charset="-122"/>
                <a:ea typeface="宋体" panose="02010600030101010101" pitchFamily="2" charset="-122"/>
                <a:cs typeface="Times New Roman" panose="02020603050405020304" pitchFamily="18" charset="0"/>
              </a:rPr>
              <a:t>种子节点</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（被确定为诚实的节点）、</a:t>
            </a:r>
            <a:r>
              <a:rPr lang="zh-CN" altLang="en-US" sz="1600" b="1" kern="100" dirty="0">
                <a:solidFill>
                  <a:srgbClr val="FF0000"/>
                </a:solidFill>
                <a:effectLst/>
                <a:latin typeface="等线" panose="02010600030101010101" pitchFamily="2" charset="-122"/>
                <a:ea typeface="宋体" panose="02010600030101010101" pitchFamily="2" charset="-122"/>
                <a:cs typeface="Times New Roman" panose="02020603050405020304" pitchFamily="18" charset="0"/>
              </a:rPr>
              <a:t>攻击节点</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（具有真实身份的恶意节点）、</a:t>
            </a:r>
            <a:r>
              <a:rPr lang="zh-CN" altLang="en-US" sz="1600" b="1" kern="100" dirty="0">
                <a:solidFill>
                  <a:srgbClr val="FF0000"/>
                </a:solidFill>
                <a:effectLst/>
                <a:latin typeface="等线" panose="02010600030101010101" pitchFamily="2" charset="-122"/>
                <a:ea typeface="宋体" panose="02010600030101010101" pitchFamily="2" charset="-122"/>
                <a:cs typeface="Times New Roman" panose="02020603050405020304" pitchFamily="18" charset="0"/>
              </a:rPr>
              <a:t>女巫节点</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（虚假身份的节点）。</a:t>
            </a:r>
            <a:endPar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0FB12438-2DB6-4DAF-865E-35998B5E3F69}"/>
              </a:ext>
            </a:extLst>
          </p:cNvPr>
          <p:cNvSpPr txBox="1"/>
          <p:nvPr/>
        </p:nvSpPr>
        <p:spPr>
          <a:xfrm>
            <a:off x="0" y="4524394"/>
            <a:ext cx="3429000" cy="253916"/>
          </a:xfrm>
          <a:prstGeom prst="rect">
            <a:avLst/>
          </a:prstGeom>
          <a:noFill/>
        </p:spPr>
        <p:txBody>
          <a:bodyPr wrap="square">
            <a:spAutoFit/>
          </a:bodyPr>
          <a:lstStyle/>
          <a:p>
            <a:pPr indent="267970" algn="ct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050" b="1" kern="100" dirty="0">
                <a:effectLst/>
                <a:latin typeface="Times New Roman" panose="02020603050405020304" pitchFamily="18" charset="0"/>
                <a:ea typeface="等线" panose="02010600030101010101" pitchFamily="2" charset="-122"/>
                <a:cs typeface="Times New Roman" panose="02020603050405020304" pitchFamily="18" charset="0"/>
              </a:rPr>
              <a:t>1 </a:t>
            </a: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社交网络图谱的基本模型</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B46B8218-FBEB-43AF-AD84-58DB88C7878D}"/>
              </a:ext>
            </a:extLst>
          </p:cNvPr>
          <p:cNvSpPr txBox="1"/>
          <p:nvPr/>
        </p:nvSpPr>
        <p:spPr>
          <a:xfrm>
            <a:off x="6260692" y="4536458"/>
            <a:ext cx="288032" cy="369332"/>
          </a:xfrm>
          <a:prstGeom prst="rect">
            <a:avLst/>
          </a:prstGeom>
          <a:noFill/>
        </p:spPr>
        <p:txBody>
          <a:bodyPr wrap="square" rtlCol="0">
            <a:spAutoFit/>
          </a:bodyPr>
          <a:lstStyle/>
          <a:p>
            <a:r>
              <a:rPr lang="en-US" altLang="zh-CN" dirty="0"/>
              <a:t>4</a:t>
            </a:r>
            <a:endParaRPr lang="zh-CN" altLang="en-US" dirty="0"/>
          </a:p>
        </p:txBody>
      </p:sp>
    </p:spTree>
    <p:extLst>
      <p:ext uri="{BB962C8B-B14F-4D97-AF65-F5344CB8AC3E}">
        <p14:creationId xmlns:p14="http://schemas.microsoft.com/office/powerpoint/2010/main" val="3487946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C10727A-03B1-5642-A459-150C7BFCE926}"/>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研究背景</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AB343C44-FF5D-7646-BB4C-358B4280A632}"/>
              </a:ext>
            </a:extLst>
          </p:cNvPr>
          <p:cNvSpPr/>
          <p:nvPr/>
        </p:nvSpPr>
        <p:spPr>
          <a:xfrm>
            <a:off x="465516" y="610984"/>
            <a:ext cx="5926968" cy="1754326"/>
          </a:xfrm>
          <a:prstGeom prst="rect">
            <a:avLst/>
          </a:prstGeom>
        </p:spPr>
        <p:txBody>
          <a:bodyPr wrap="square">
            <a:spAutoFit/>
          </a:bodyPr>
          <a:lstStyle/>
          <a:p>
            <a:pPr marL="285750" indent="-285750">
              <a:buFont typeface="Wingdings" pitchFamily="2" charset="2"/>
              <a:buChar char="n"/>
            </a:pPr>
            <a:r>
              <a:rPr lang="zh-CN" altLang="en-US" sz="2000" b="1" dirty="0"/>
              <a:t>攻击方式</a:t>
            </a:r>
            <a:endParaRPr lang="en-US" altLang="zh-CN" sz="2000" b="1" dirty="0"/>
          </a:p>
          <a:p>
            <a:pPr marL="285750" indent="-285750">
              <a:buFont typeface="Wingdings" panose="05000000000000000000" pitchFamily="2" charset="2"/>
              <a:buChar char="Ø"/>
            </a:pPr>
            <a:r>
              <a:rPr lang="zh-CN" altLang="en-US" b="1" dirty="0"/>
              <a:t>孤立攻击</a:t>
            </a:r>
            <a:endParaRPr lang="en-US" altLang="zh-CN" b="1" dirty="0"/>
          </a:p>
          <a:p>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一名攻击者将自己的计算与存储资源分配给自己控制的女巫节点，以通过连接到其他节点来获得他人承认。</a:t>
            </a:r>
            <a:endPar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endParaRPr>
          </a:p>
          <a:p>
            <a:pPr lvl="0" algn="just"/>
            <a:r>
              <a:rPr lang="en-US" altLang="zh-CN" sz="800" kern="100" dirty="0">
                <a:latin typeface="等线" panose="02010600030101010101" pitchFamily="2" charset="-122"/>
                <a:cs typeface="Times New Roman" panose="02020603050405020304" pitchFamily="18" charset="0"/>
              </a:rPr>
              <a:t> </a:t>
            </a:r>
            <a:endParaRPr lang="en-US" altLang="zh-CN" sz="100" kern="100" dirty="0">
              <a:effectLst/>
              <a:latin typeface="等线" panose="02010600030101010101" pitchFamily="2" charset="-122"/>
              <a:ea typeface="宋体" panose="02010600030101010101" pitchFamily="2" charset="-122"/>
              <a:cs typeface="Times New Roman" panose="02020603050405020304" pitchFamily="18" charset="0"/>
            </a:endParaRPr>
          </a:p>
          <a:p>
            <a:pPr marL="285750" indent="-285750">
              <a:buFont typeface="Wingdings" panose="05000000000000000000" pitchFamily="2" charset="2"/>
              <a:buChar char="Ø"/>
            </a:pPr>
            <a:endPar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endParaRPr>
          </a:p>
          <a:p>
            <a:pPr marR="0" algn="just" defTabSz="914400" latinLnBrk="0">
              <a:lnSpc>
                <a:spcPct val="100000"/>
              </a:lnSpc>
              <a:buClrTx/>
              <a:buSzTx/>
              <a:tabLst/>
              <a:defRPr/>
            </a:pPr>
            <a:r>
              <a:rPr lang="en-US" altLang="zh-CN" sz="800" kern="100" dirty="0">
                <a:latin typeface="等线" panose="02010600030101010101" pitchFamily="2" charset="-122"/>
                <a:cs typeface="Times New Roman" panose="02020603050405020304" pitchFamily="18" charset="0"/>
              </a:rPr>
              <a:t> </a:t>
            </a:r>
          </a:p>
        </p:txBody>
      </p:sp>
      <p:sp>
        <p:nvSpPr>
          <p:cNvPr id="8" name="文本框 7">
            <a:extLst>
              <a:ext uri="{FF2B5EF4-FFF2-40B4-BE49-F238E27FC236}">
                <a16:creationId xmlns:a16="http://schemas.microsoft.com/office/drawing/2014/main" id="{A9780ED8-DE7F-439A-9704-5A5703948081}"/>
              </a:ext>
            </a:extLst>
          </p:cNvPr>
          <p:cNvSpPr txBox="1"/>
          <p:nvPr/>
        </p:nvSpPr>
        <p:spPr>
          <a:xfrm>
            <a:off x="994420" y="1811312"/>
            <a:ext cx="5026868" cy="1107996"/>
          </a:xfrm>
          <a:prstGeom prst="rect">
            <a:avLst/>
          </a:prstGeom>
          <a:noFill/>
        </p:spPr>
        <p:txBody>
          <a:bodyPr wrap="square">
            <a:spAutoFit/>
          </a:bodyPr>
          <a:lstStyle/>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一名攻击者连接到一些种子节点</a:t>
            </a: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并创建一些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sybil</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endPar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一名攻击者连接到一些排名最高的诚实用户，并创建一些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sybil</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endPar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一名攻击者连接到一些诚实用户，并创建一些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sybil</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endPar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一名攻击者连接到排名最高的诚实者之一，并创建多个</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sybil</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群组；</a:t>
            </a:r>
            <a:endPar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种子节点尝试创建一些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sybil</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endPar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诚实节点尝试创建一些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sybil</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endPar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2" name="文本框 11">
            <a:extLst>
              <a:ext uri="{FF2B5EF4-FFF2-40B4-BE49-F238E27FC236}">
                <a16:creationId xmlns:a16="http://schemas.microsoft.com/office/drawing/2014/main" id="{4A3CAF8F-BCEE-46A9-9C59-909D5E794B8C}"/>
              </a:ext>
            </a:extLst>
          </p:cNvPr>
          <p:cNvSpPr txBox="1"/>
          <p:nvPr/>
        </p:nvSpPr>
        <p:spPr>
          <a:xfrm>
            <a:off x="994420" y="3741712"/>
            <a:ext cx="5143500" cy="1277273"/>
          </a:xfrm>
          <a:prstGeom prst="rect">
            <a:avLst/>
          </a:prstGeom>
          <a:noFill/>
        </p:spPr>
        <p:txBody>
          <a:bodyPr wrap="square">
            <a:spAutoFit/>
          </a:bodyPr>
          <a:lstStyle/>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一组或多组攻击者试图连接到某些种子节点并创建一些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sybil</a:t>
            </a: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endPar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一组或多组攻击者试图连接到一些顶级诚实用户，并创建一些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sybil</a:t>
            </a: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一组或多组攻击者试图连接到某些诚实用户并创建一些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sybil</a:t>
            </a: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一群攻击者试图与一些最诚实的诚实分子建立联系，并创建多个</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sybil</a:t>
            </a: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群组；</a:t>
            </a: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一组或多组种子节点尝试创建一些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sybil</a:t>
            </a: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一组或多组诚实节点尝试创建一些</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sybil</a:t>
            </a:r>
            <a:r>
              <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节点；</a:t>
            </a:r>
            <a:endPar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ea"/>
              <a:buAutoNum type="circleNumDbPlain"/>
              <a:tabLst/>
              <a:defRPr/>
            </a:pP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a:t>
            </a:r>
            <a:endParaRPr kumimoji="0" lang="zh-CN" altLang="en-US" sz="1100" b="0" i="0" u="none" strike="noStrike" kern="10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32D14807-DAC4-433B-978E-B5798AAC9221}"/>
              </a:ext>
            </a:extLst>
          </p:cNvPr>
          <p:cNvSpPr txBox="1"/>
          <p:nvPr/>
        </p:nvSpPr>
        <p:spPr>
          <a:xfrm>
            <a:off x="465516" y="2827126"/>
            <a:ext cx="5926968" cy="923330"/>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t>协同攻击</a:t>
            </a:r>
            <a:endParaRPr lang="en-US" altLang="zh-CN" b="1" dirty="0"/>
          </a:p>
          <a:p>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多名攻击者将自己的计算与存储资源分配给其控制的女巫节点，攻击者能够以任何方式彼此联系。</a:t>
            </a:r>
            <a:endParaRPr lang="zh-CN" altLang="en-US" dirty="0"/>
          </a:p>
        </p:txBody>
      </p:sp>
      <p:sp>
        <p:nvSpPr>
          <p:cNvPr id="7" name="文本框 6">
            <a:extLst>
              <a:ext uri="{FF2B5EF4-FFF2-40B4-BE49-F238E27FC236}">
                <a16:creationId xmlns:a16="http://schemas.microsoft.com/office/drawing/2014/main" id="{63DFD955-03E4-4881-A729-44B6B25E8CFF}"/>
              </a:ext>
            </a:extLst>
          </p:cNvPr>
          <p:cNvSpPr txBox="1"/>
          <p:nvPr/>
        </p:nvSpPr>
        <p:spPr>
          <a:xfrm>
            <a:off x="6260692" y="4536458"/>
            <a:ext cx="288032" cy="369332"/>
          </a:xfrm>
          <a:prstGeom prst="rect">
            <a:avLst/>
          </a:prstGeom>
          <a:noFill/>
        </p:spPr>
        <p:txBody>
          <a:bodyPr wrap="square" rtlCol="0">
            <a:spAutoFit/>
          </a:bodyPr>
          <a:lstStyle/>
          <a:p>
            <a:r>
              <a:rPr lang="en-US" altLang="zh-CN" dirty="0"/>
              <a:t>5</a:t>
            </a:r>
            <a:endParaRPr lang="zh-CN" altLang="en-US" dirty="0"/>
          </a:p>
        </p:txBody>
      </p:sp>
    </p:spTree>
    <p:extLst>
      <p:ext uri="{BB962C8B-B14F-4D97-AF65-F5344CB8AC3E}">
        <p14:creationId xmlns:p14="http://schemas.microsoft.com/office/powerpoint/2010/main" val="2195692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组合 6"/>
          <p:cNvGrpSpPr>
            <a:grpSpLocks/>
          </p:cNvGrpSpPr>
          <p:nvPr/>
        </p:nvGrpSpPr>
        <p:grpSpPr bwMode="auto">
          <a:xfrm>
            <a:off x="641350" y="1362075"/>
            <a:ext cx="1673225" cy="1674813"/>
            <a:chOff x="1330026" y="1365494"/>
            <a:chExt cx="3395626" cy="3395626"/>
          </a:xfrm>
        </p:grpSpPr>
        <p:grpSp>
          <p:nvGrpSpPr>
            <p:cNvPr id="54322" name="组合 2"/>
            <p:cNvGrpSpPr>
              <a:grpSpLocks/>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sp>
            <p:nvSpPr>
              <p:cNvPr id="5" name="椭圆 4"/>
              <p:cNvSpPr>
                <a:spLocks noChangeAspect="1"/>
              </p:cNvSpPr>
              <p:nvPr/>
            </p:nvSpPr>
            <p:spPr>
              <a:xfrm>
                <a:off x="1249500" y="2303602"/>
                <a:ext cx="2016000" cy="2016408"/>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grpSp>
        <p:pic>
          <p:nvPicPr>
            <p:cNvPr id="54323"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1240"/>
            <a:ext cx="810000" cy="81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sp>
        <p:nvSpPr>
          <p:cNvPr id="9" name="直角三角形 8"/>
          <p:cNvSpPr/>
          <p:nvPr/>
        </p:nvSpPr>
        <p:spPr>
          <a:xfrm rot="16200000">
            <a:off x="6048000" y="4333500"/>
            <a:ext cx="810000" cy="81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grpSp>
        <p:nvGrpSpPr>
          <p:cNvPr id="54281" name="组合 5"/>
          <p:cNvGrpSpPr>
            <a:grpSpLocks/>
          </p:cNvGrpSpPr>
          <p:nvPr/>
        </p:nvGrpSpPr>
        <p:grpSpPr bwMode="auto">
          <a:xfrm>
            <a:off x="2815853" y="852706"/>
            <a:ext cx="3660775" cy="515938"/>
            <a:chOff x="3507234" y="1752600"/>
            <a:chExt cx="4881189" cy="688579"/>
          </a:xfrm>
        </p:grpSpPr>
        <p:grpSp>
          <p:nvGrpSpPr>
            <p:cNvPr id="54313" name="Group 5"/>
            <p:cNvGrpSpPr>
              <a:grpSpLocks/>
            </p:cNvGrpSpPr>
            <p:nvPr/>
          </p:nvGrpSpPr>
          <p:grpSpPr bwMode="auto">
            <a:xfrm>
              <a:off x="3507234" y="1752600"/>
              <a:ext cx="762000" cy="665163"/>
              <a:chOff x="0" y="0"/>
              <a:chExt cx="1549" cy="1351"/>
            </a:xfrm>
          </p:grpSpPr>
          <p:sp>
            <p:nvSpPr>
              <p:cNvPr id="54317"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4318"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4319" name="AutoShape 8"/>
              <p:cNvGrpSpPr>
                <a:grpSpLocks/>
              </p:cNvGrpSpPr>
              <p:nvPr/>
            </p:nvGrpSpPr>
            <p:grpSpPr bwMode="auto">
              <a:xfrm>
                <a:off x="68" y="54"/>
                <a:ext cx="1400" cy="1213"/>
                <a:chOff x="0" y="0"/>
                <a:chExt cx="688848" cy="597408"/>
              </a:xfrm>
            </p:grpSpPr>
            <p:pic>
              <p:nvPicPr>
                <p:cNvPr id="54320" name="AutoShape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21"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4314" name="Line 13"/>
            <p:cNvSpPr>
              <a:spLocks noChangeShapeType="1"/>
            </p:cNvSpPr>
            <p:nvPr/>
          </p:nvSpPr>
          <p:spPr bwMode="auto">
            <a:xfrm>
              <a:off x="4116834" y="2359025"/>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4315" name="Text Box 15"/>
            <p:cNvSpPr txBox="1">
              <a:spLocks noChangeArrowheads="1"/>
            </p:cNvSpPr>
            <p:nvPr/>
          </p:nvSpPr>
          <p:spPr bwMode="auto">
            <a:xfrm>
              <a:off x="3631877" y="182562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1</a:t>
              </a:r>
            </a:p>
          </p:txBody>
        </p:sp>
        <p:sp>
          <p:nvSpPr>
            <p:cNvPr id="54316" name="Text Box 17"/>
            <p:cNvSpPr txBox="1">
              <a:spLocks noChangeArrowheads="1"/>
            </p:cNvSpPr>
            <p:nvPr/>
          </p:nvSpPr>
          <p:spPr bwMode="auto">
            <a:xfrm>
              <a:off x="4231445" y="1772815"/>
              <a:ext cx="4156978"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31589C"/>
                  </a:solidFill>
                  <a:latin typeface="Tahoma" panose="020B0604030504040204" pitchFamily="34" charset="0"/>
                  <a:ea typeface="微软雅黑" panose="020B0503020204020204" pitchFamily="34" charset="-122"/>
                </a:rPr>
                <a:t>研究背景</a:t>
              </a:r>
            </a:p>
          </p:txBody>
        </p:sp>
      </p:grpSp>
      <p:sp>
        <p:nvSpPr>
          <p:cNvPr id="54282" name="矩形 1"/>
          <p:cNvSpPr>
            <a:spLocks noChangeArrowheads="1"/>
          </p:cNvSpPr>
          <p:nvPr/>
        </p:nvSpPr>
        <p:spPr bwMode="auto">
          <a:xfrm>
            <a:off x="692150" y="3163888"/>
            <a:ext cx="15700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700" b="1">
                <a:solidFill>
                  <a:srgbClr val="325AA1"/>
                </a:solidFill>
                <a:latin typeface="微软雅黑" panose="020B0503020204020204" pitchFamily="34" charset="-122"/>
                <a:ea typeface="微软雅黑" panose="020B0503020204020204" pitchFamily="34" charset="-122"/>
              </a:rPr>
              <a:t>报告内容</a:t>
            </a:r>
          </a:p>
        </p:txBody>
      </p:sp>
      <p:grpSp>
        <p:nvGrpSpPr>
          <p:cNvPr id="54284" name="组合 29"/>
          <p:cNvGrpSpPr>
            <a:grpSpLocks/>
          </p:cNvGrpSpPr>
          <p:nvPr/>
        </p:nvGrpSpPr>
        <p:grpSpPr bwMode="auto">
          <a:xfrm>
            <a:off x="2815853" y="2286596"/>
            <a:ext cx="3238281" cy="536575"/>
            <a:chOff x="3507234" y="2813050"/>
            <a:chExt cx="4319405" cy="713979"/>
          </a:xfrm>
        </p:grpSpPr>
        <p:grpSp>
          <p:nvGrpSpPr>
            <p:cNvPr id="54295" name="Group 9"/>
            <p:cNvGrpSpPr>
              <a:grpSpLocks/>
            </p:cNvGrpSpPr>
            <p:nvPr/>
          </p:nvGrpSpPr>
          <p:grpSpPr bwMode="auto">
            <a:xfrm>
              <a:off x="3507234" y="2813050"/>
              <a:ext cx="762000" cy="665163"/>
              <a:chOff x="0" y="0"/>
              <a:chExt cx="1549" cy="1351"/>
            </a:xfrm>
          </p:grpSpPr>
          <p:sp>
            <p:nvSpPr>
              <p:cNvPr id="54299"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4300"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4301" name="AutoShape 12"/>
              <p:cNvGrpSpPr>
                <a:grpSpLocks/>
              </p:cNvGrpSpPr>
              <p:nvPr/>
            </p:nvGrpSpPr>
            <p:grpSpPr bwMode="auto">
              <a:xfrm>
                <a:off x="68" y="54"/>
                <a:ext cx="1400" cy="1213"/>
                <a:chOff x="0" y="0"/>
                <a:chExt cx="688848" cy="597408"/>
              </a:xfrm>
            </p:grpSpPr>
            <p:pic>
              <p:nvPicPr>
                <p:cNvPr id="54302" name="AutoShap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03"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4296" name="Line 16"/>
            <p:cNvSpPr>
              <a:spLocks noChangeShapeType="1"/>
            </p:cNvSpPr>
            <p:nvPr/>
          </p:nvSpPr>
          <p:spPr bwMode="auto">
            <a:xfrm>
              <a:off x="4116834" y="3422650"/>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4297" name="Text Box 18"/>
            <p:cNvSpPr txBox="1">
              <a:spLocks noChangeArrowheads="1"/>
            </p:cNvSpPr>
            <p:nvPr/>
          </p:nvSpPr>
          <p:spPr bwMode="auto">
            <a:xfrm>
              <a:off x="3631877" y="291147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a:t>
              </a:r>
            </a:p>
          </p:txBody>
        </p:sp>
        <p:sp>
          <p:nvSpPr>
            <p:cNvPr id="54298" name="Text Box 24"/>
            <p:cNvSpPr txBox="1">
              <a:spLocks noChangeArrowheads="1"/>
            </p:cNvSpPr>
            <p:nvPr/>
          </p:nvSpPr>
          <p:spPr bwMode="auto">
            <a:xfrm>
              <a:off x="4229036" y="2822553"/>
              <a:ext cx="3597603" cy="61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400" b="1" dirty="0">
                  <a:solidFill>
                    <a:srgbClr val="FF0000"/>
                  </a:solidFill>
                  <a:latin typeface="Tahoma" panose="020B0604030504040204" pitchFamily="34" charset="0"/>
                  <a:ea typeface="微软雅黑" panose="020B0503020204020204" pitchFamily="34" charset="-122"/>
                </a:rPr>
                <a:t>研究内容</a:t>
              </a:r>
            </a:p>
          </p:txBody>
        </p:sp>
      </p:grpSp>
      <p:grpSp>
        <p:nvGrpSpPr>
          <p:cNvPr id="50" name="组合 29"/>
          <p:cNvGrpSpPr>
            <a:grpSpLocks/>
          </p:cNvGrpSpPr>
          <p:nvPr/>
        </p:nvGrpSpPr>
        <p:grpSpPr bwMode="auto">
          <a:xfrm>
            <a:off x="2819149" y="3649605"/>
            <a:ext cx="3240088" cy="536575"/>
            <a:chOff x="3507234" y="2813050"/>
            <a:chExt cx="4321816" cy="713979"/>
          </a:xfrm>
        </p:grpSpPr>
        <p:grpSp>
          <p:nvGrpSpPr>
            <p:cNvPr id="51" name="Group 9"/>
            <p:cNvGrpSpPr>
              <a:grpSpLocks/>
            </p:cNvGrpSpPr>
            <p:nvPr/>
          </p:nvGrpSpPr>
          <p:grpSpPr bwMode="auto">
            <a:xfrm>
              <a:off x="3507234" y="2813050"/>
              <a:ext cx="762000" cy="665163"/>
              <a:chOff x="0" y="0"/>
              <a:chExt cx="1549" cy="1351"/>
            </a:xfrm>
          </p:grpSpPr>
          <p:sp>
            <p:nvSpPr>
              <p:cNvPr id="55"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6"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7" name="AutoShape 12"/>
              <p:cNvGrpSpPr>
                <a:grpSpLocks/>
              </p:cNvGrpSpPr>
              <p:nvPr/>
            </p:nvGrpSpPr>
            <p:grpSpPr bwMode="auto">
              <a:xfrm>
                <a:off x="68" y="54"/>
                <a:ext cx="1400" cy="1213"/>
                <a:chOff x="0" y="0"/>
                <a:chExt cx="688848" cy="597408"/>
              </a:xfrm>
            </p:grpSpPr>
            <p:pic>
              <p:nvPicPr>
                <p:cNvPr id="58" name="AutoShap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2" name="Line 16"/>
            <p:cNvSpPr>
              <a:spLocks noChangeShapeType="1"/>
            </p:cNvSpPr>
            <p:nvPr/>
          </p:nvSpPr>
          <p:spPr bwMode="auto">
            <a:xfrm>
              <a:off x="4116834" y="3422650"/>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3" name="Text Box 18"/>
            <p:cNvSpPr txBox="1">
              <a:spLocks noChangeArrowheads="1"/>
            </p:cNvSpPr>
            <p:nvPr/>
          </p:nvSpPr>
          <p:spPr bwMode="auto">
            <a:xfrm>
              <a:off x="3631877" y="291147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3</a:t>
              </a:r>
            </a:p>
          </p:txBody>
        </p:sp>
        <p:sp>
          <p:nvSpPr>
            <p:cNvPr id="54" name="Text Box 24"/>
            <p:cNvSpPr txBox="1">
              <a:spLocks noChangeArrowheads="1"/>
            </p:cNvSpPr>
            <p:nvPr/>
          </p:nvSpPr>
          <p:spPr bwMode="auto">
            <a:xfrm>
              <a:off x="4231447" y="2846107"/>
              <a:ext cx="3597603" cy="61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400" b="1" dirty="0">
                  <a:solidFill>
                    <a:srgbClr val="31589C"/>
                  </a:solidFill>
                  <a:latin typeface="Tahoma" panose="020B0604030504040204" pitchFamily="34" charset="0"/>
                  <a:ea typeface="微软雅黑" panose="020B0503020204020204" pitchFamily="34" charset="-122"/>
                </a:rPr>
                <a:t>结论展望</a:t>
              </a:r>
            </a:p>
          </p:txBody>
        </p:sp>
      </p:grpSp>
    </p:spTree>
    <p:extLst>
      <p:ext uri="{BB962C8B-B14F-4D97-AF65-F5344CB8AC3E}">
        <p14:creationId xmlns:p14="http://schemas.microsoft.com/office/powerpoint/2010/main" val="64440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C10727A-03B1-5642-A459-150C7BFCE926}"/>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研究内容</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946EA511-91CB-FA4A-BD48-B902D9BFC782}"/>
              </a:ext>
            </a:extLst>
          </p:cNvPr>
          <p:cNvSpPr/>
          <p:nvPr/>
        </p:nvSpPr>
        <p:spPr>
          <a:xfrm>
            <a:off x="444165" y="771550"/>
            <a:ext cx="5969669" cy="4247317"/>
          </a:xfrm>
          <a:prstGeom prst="rect">
            <a:avLst/>
          </a:prstGeom>
        </p:spPr>
        <p:txBody>
          <a:bodyPr wrap="square">
            <a:spAutoFit/>
          </a:bodyPr>
          <a:lstStyle/>
          <a:p>
            <a:pPr marL="342900" indent="-342900">
              <a:buFont typeface="Wingdings" panose="05000000000000000000" pitchFamily="2" charset="2"/>
              <a:buChar char="n"/>
            </a:pPr>
            <a:r>
              <a:rPr lang="zh-CN" altLang="en-US" sz="2000" b="1" dirty="0"/>
              <a:t>研究内容部分主要包括：</a:t>
            </a:r>
            <a:endParaRPr lang="en-US" altLang="zh-CN" sz="2000" b="1" dirty="0"/>
          </a:p>
          <a:p>
            <a:pPr marL="285750" indent="-285750">
              <a:buFont typeface="Wingdings" panose="05000000000000000000" pitchFamily="2" charset="2"/>
              <a:buChar char="Ø"/>
            </a:pPr>
            <a:r>
              <a:rPr lang="zh-CN" altLang="en-US" b="1" dirty="0"/>
              <a:t>基于随机游走的女巫节点检测算法：</a:t>
            </a:r>
            <a:endParaRPr lang="en-US" altLang="zh-CN" b="1" dirty="0"/>
          </a:p>
          <a:p>
            <a:endParaRPr lang="en-US" altLang="zh-CN" sz="1600" b="1" dirty="0"/>
          </a:p>
          <a:p>
            <a:r>
              <a:rPr lang="en-US" altLang="zh-CN" sz="1600" dirty="0"/>
              <a:t>    </a:t>
            </a:r>
            <a:r>
              <a:rPr lang="zh-CN" altLang="en-US" sz="1600" dirty="0"/>
              <a:t>本部分主要介绍了本文使用的三种随机游走算法：</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a:t>
            </a:r>
            <a:r>
              <a:rPr lang="en-US" altLang="zh-CN" sz="1600" kern="100" dirty="0" err="1">
                <a:effectLst/>
                <a:latin typeface="等线" panose="02010600030101010101" pitchFamily="2" charset="-122"/>
                <a:ea typeface="宋体" panose="02010600030101010101" pitchFamily="2" charset="-122"/>
                <a:cs typeface="Times New Roman" panose="02020603050405020304" pitchFamily="18" charset="0"/>
              </a:rPr>
              <a:t>SybilGuard</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a:t>
            </a:r>
            <a:r>
              <a:rPr lang="en-US" altLang="zh-CN" sz="1600" kern="100" dirty="0" err="1">
                <a:effectLst/>
                <a:latin typeface="等线" panose="02010600030101010101" pitchFamily="2" charset="-122"/>
                <a:ea typeface="宋体" panose="02010600030101010101" pitchFamily="2" charset="-122"/>
                <a:cs typeface="Times New Roman" panose="02020603050405020304" pitchFamily="18" charset="0"/>
              </a:rPr>
              <a:t>SybilLimit</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和</a:t>
            </a:r>
            <a:r>
              <a:rPr lang="en-US" altLang="zh-CN" sz="1600" kern="100" dirty="0" err="1">
                <a:effectLst/>
                <a:latin typeface="等线" panose="02010600030101010101" pitchFamily="2" charset="-122"/>
                <a:ea typeface="宋体" panose="02010600030101010101" pitchFamily="2" charset="-122"/>
                <a:cs typeface="Times New Roman" panose="02020603050405020304" pitchFamily="18" charset="0"/>
              </a:rPr>
              <a:t>SybilRank</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的基本原理。</a:t>
            </a:r>
            <a:endParaRPr lang="en-US" altLang="zh-CN" sz="1600" kern="100" dirty="0">
              <a:latin typeface="等线" panose="02010600030101010101" pitchFamily="2" charset="-122"/>
              <a:cs typeface="Times New Roman" panose="02020603050405020304" pitchFamily="18" charset="0"/>
            </a:endParaRPr>
          </a:p>
          <a:p>
            <a:endParaRPr lang="en-US" altLang="zh-CN" dirty="0"/>
          </a:p>
          <a:p>
            <a:pPr marL="285750" indent="-285750">
              <a:buFont typeface="Wingdings" panose="05000000000000000000" pitchFamily="2" charset="2"/>
              <a:buChar char="Ø"/>
            </a:pPr>
            <a:r>
              <a:rPr lang="zh-CN" altLang="en-US" b="1" dirty="0"/>
              <a:t>针对不同类型网络的实验验证：</a:t>
            </a:r>
            <a:endParaRPr lang="en-US" altLang="zh-CN" b="1" dirty="0"/>
          </a:p>
          <a:p>
            <a:endParaRPr lang="en-US" altLang="zh-CN" sz="1600" b="1" dirty="0"/>
          </a:p>
          <a:p>
            <a:r>
              <a:rPr lang="zh-CN" altLang="en-US" sz="1600" dirty="0"/>
              <a:t>    本部分主要比较了中心化、多中心、分布式网络下三种算法的检测时间、检测精度等指标。</a:t>
            </a:r>
            <a:endParaRPr lang="en-US" altLang="zh-CN" sz="1600" dirty="0"/>
          </a:p>
          <a:p>
            <a:endParaRPr lang="en-US" altLang="zh-CN" dirty="0"/>
          </a:p>
          <a:p>
            <a:pPr marL="285750" indent="-285750">
              <a:buFont typeface="Wingdings" panose="05000000000000000000" pitchFamily="2" charset="2"/>
              <a:buChar char="Ø"/>
            </a:pP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基于节点行为的检测</a:t>
            </a:r>
            <a:r>
              <a:rPr lang="zh-CN" altLang="en-US" sz="1800" b="1" kern="100" dirty="0">
                <a:effectLst/>
                <a:latin typeface="等线" panose="02010600030101010101" pitchFamily="2" charset="-122"/>
                <a:ea typeface="宋体" panose="02010600030101010101" pitchFamily="2" charset="-122"/>
                <a:cs typeface="Times New Roman" panose="02020603050405020304" pitchFamily="18" charset="0"/>
              </a:rPr>
              <a:t>（原算法改进）</a:t>
            </a:r>
            <a:r>
              <a:rPr lang="zh-CN" altLang="en-US" b="1" dirty="0"/>
              <a:t>：</a:t>
            </a:r>
            <a:endParaRPr lang="en-US" altLang="zh-CN" b="1" dirty="0"/>
          </a:p>
          <a:p>
            <a:endParaRPr lang="en-US" altLang="zh-CN" sz="1600" b="1" dirty="0"/>
          </a:p>
          <a:p>
            <a:r>
              <a:rPr lang="en-US" altLang="zh-CN" sz="1600" dirty="0"/>
              <a:t>    </a:t>
            </a:r>
            <a:r>
              <a:rPr lang="zh-CN" altLang="en-US" sz="1600" dirty="0"/>
              <a:t>本部分利用节点行为信息，使用</a:t>
            </a:r>
            <a:r>
              <a:rPr lang="en-US" altLang="zh-CN" sz="1600" dirty="0"/>
              <a:t>KNN</a:t>
            </a:r>
            <a:r>
              <a:rPr lang="zh-CN" altLang="en-US" sz="1600" dirty="0"/>
              <a:t>和朴素贝叶斯结合的方法对检测算法进行了改进。</a:t>
            </a:r>
            <a:endParaRPr lang="en-US" altLang="zh-CN" sz="1600" dirty="0"/>
          </a:p>
          <a:p>
            <a:endParaRPr lang="en-US" altLang="zh-CN" sz="1600" dirty="0"/>
          </a:p>
        </p:txBody>
      </p:sp>
      <p:sp>
        <p:nvSpPr>
          <p:cNvPr id="5" name="文本框 4">
            <a:extLst>
              <a:ext uri="{FF2B5EF4-FFF2-40B4-BE49-F238E27FC236}">
                <a16:creationId xmlns:a16="http://schemas.microsoft.com/office/drawing/2014/main" id="{12DB3AED-6C17-4E61-92CC-0A4FD1282C5E}"/>
              </a:ext>
            </a:extLst>
          </p:cNvPr>
          <p:cNvSpPr txBox="1"/>
          <p:nvPr/>
        </p:nvSpPr>
        <p:spPr>
          <a:xfrm>
            <a:off x="6260692" y="4536458"/>
            <a:ext cx="288032" cy="369332"/>
          </a:xfrm>
          <a:prstGeom prst="rect">
            <a:avLst/>
          </a:prstGeom>
          <a:noFill/>
        </p:spPr>
        <p:txBody>
          <a:bodyPr wrap="square" rtlCol="0">
            <a:spAutoFit/>
          </a:bodyPr>
          <a:lstStyle/>
          <a:p>
            <a:r>
              <a:rPr lang="en-US" altLang="zh-CN" dirty="0"/>
              <a:t>7</a:t>
            </a:r>
            <a:endParaRPr lang="zh-CN" altLang="en-US" dirty="0"/>
          </a:p>
        </p:txBody>
      </p:sp>
    </p:spTree>
    <p:extLst>
      <p:ext uri="{BB962C8B-B14F-4D97-AF65-F5344CB8AC3E}">
        <p14:creationId xmlns:p14="http://schemas.microsoft.com/office/powerpoint/2010/main" val="842632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基于随机游走的女巫节点检测算法</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45DD1D6A-8693-4363-965E-7F47902BDD9A}"/>
              </a:ext>
            </a:extLst>
          </p:cNvPr>
          <p:cNvPicPr>
            <a:picLocks noChangeAspect="1"/>
          </p:cNvPicPr>
          <p:nvPr/>
        </p:nvPicPr>
        <p:blipFill rotWithShape="1">
          <a:blip r:embed="rId2"/>
          <a:srcRect l="4596"/>
          <a:stretch/>
        </p:blipFill>
        <p:spPr>
          <a:xfrm>
            <a:off x="3895784" y="864032"/>
            <a:ext cx="2413536" cy="1609426"/>
          </a:xfrm>
          <a:prstGeom prst="rect">
            <a:avLst/>
          </a:prstGeom>
        </p:spPr>
      </p:pic>
      <p:sp>
        <p:nvSpPr>
          <p:cNvPr id="5" name="文本框 4">
            <a:extLst>
              <a:ext uri="{FF2B5EF4-FFF2-40B4-BE49-F238E27FC236}">
                <a16:creationId xmlns:a16="http://schemas.microsoft.com/office/drawing/2014/main" id="{EF8F71AF-5913-46BC-8B80-98749BF7874C}"/>
              </a:ext>
            </a:extLst>
          </p:cNvPr>
          <p:cNvSpPr txBox="1"/>
          <p:nvPr/>
        </p:nvSpPr>
        <p:spPr>
          <a:xfrm>
            <a:off x="548680" y="610984"/>
            <a:ext cx="3816424" cy="677108"/>
          </a:xfrm>
          <a:prstGeom prst="rect">
            <a:avLst/>
          </a:prstGeom>
          <a:noFill/>
        </p:spPr>
        <p:txBody>
          <a:bodyPr wrap="square" rtlCol="0">
            <a:spAutoFit/>
          </a:bodyPr>
          <a:lstStyle/>
          <a:p>
            <a:pPr marL="285750" indent="-285750">
              <a:buFont typeface="Wingdings" pitchFamily="2" charset="2"/>
              <a:buChar char="n"/>
            </a:pPr>
            <a:r>
              <a:rPr lang="en-US" altLang="zh-CN" sz="2000" b="1" dirty="0" err="1"/>
              <a:t>SybilGuard</a:t>
            </a:r>
            <a:endParaRPr lang="en-US" altLang="zh-CN" sz="800" kern="100" dirty="0">
              <a:effectLst/>
              <a:latin typeface="等线" panose="02010600030101010101" pitchFamily="2" charset="-122"/>
              <a:ea typeface="宋体" panose="02010600030101010101" pitchFamily="2" charset="-122"/>
              <a:cs typeface="Times New Roman" panose="02020603050405020304" pitchFamily="18" charset="0"/>
            </a:endParaRPr>
          </a:p>
          <a:p>
            <a:pPr marL="342900" indent="-342900">
              <a:buFont typeface="Wingdings" panose="05000000000000000000" pitchFamily="2" charset="2"/>
              <a:buChar char="Ø"/>
            </a:pPr>
            <a:r>
              <a:rPr lang="zh-CN" altLang="zh-CN" b="1" dirty="0"/>
              <a:t>该算法基于以下几点基本假设：</a:t>
            </a:r>
            <a:endParaRPr lang="en-US" altLang="zh-CN" b="1" dirty="0"/>
          </a:p>
        </p:txBody>
      </p:sp>
      <p:sp>
        <p:nvSpPr>
          <p:cNvPr id="6" name="文本框 5">
            <a:extLst>
              <a:ext uri="{FF2B5EF4-FFF2-40B4-BE49-F238E27FC236}">
                <a16:creationId xmlns:a16="http://schemas.microsoft.com/office/drawing/2014/main" id="{0B3567DD-D934-4449-8E38-751BC93C4C80}"/>
              </a:ext>
            </a:extLst>
          </p:cNvPr>
          <p:cNvSpPr txBox="1"/>
          <p:nvPr/>
        </p:nvSpPr>
        <p:spPr>
          <a:xfrm>
            <a:off x="552500" y="2755498"/>
            <a:ext cx="5760640" cy="2123658"/>
          </a:xfrm>
          <a:prstGeom prst="rect">
            <a:avLst/>
          </a:prstGeom>
          <a:noFill/>
        </p:spPr>
        <p:txBody>
          <a:bodyPr wrap="square" rtlCol="0">
            <a:spAutoFit/>
          </a:bodyPr>
          <a:lstStyle/>
          <a:p>
            <a:pPr marL="342900" indent="-342900">
              <a:buFont typeface="Wingdings" panose="05000000000000000000" pitchFamily="2" charset="2"/>
              <a:buChar char="Ø"/>
            </a:pPr>
            <a:r>
              <a:rPr lang="zh-CN" altLang="en-US" b="1" dirty="0"/>
              <a:t>算法基本步骤：</a:t>
            </a:r>
            <a:endParaRPr lang="en-US" altLang="zh-CN" sz="700" kern="100" dirty="0">
              <a:effectLst/>
              <a:latin typeface="等线" panose="02010600030101010101" pitchFamily="2" charset="-122"/>
              <a:ea typeface="宋体" panose="02010600030101010101" pitchFamily="2" charset="-122"/>
              <a:cs typeface="Times New Roman" panose="02020603050405020304" pitchFamily="18" charset="0"/>
            </a:endParaRPr>
          </a:p>
          <a:p>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100" dirty="0">
                <a:effectLst/>
                <a:latin typeface="Times New Roman" panose="02020603050405020304" pitchFamily="18" charset="0"/>
                <a:ea typeface="宋体" panose="02010600030101010101" pitchFamily="2" charset="-122"/>
              </a:rPr>
              <a:t>1</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选择一个</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初始节点</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，保证这个节点为诚实节点（</a:t>
            </a:r>
            <a:r>
              <a:rPr lang="en-US" altLang="zh-CN" sz="1600" kern="100" dirty="0">
                <a:latin typeface="Times New Roman" panose="02020603050405020304" pitchFamily="18" charset="0"/>
                <a:cs typeface="Times New Roman" panose="02020603050405020304" pitchFamily="18" charset="0"/>
              </a:rPr>
              <a:t>S</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eed</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），以此为基础进行</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随机游走</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100" dirty="0">
                <a:effectLst/>
                <a:latin typeface="Times New Roman" panose="02020603050405020304" pitchFamily="18" charset="0"/>
                <a:ea typeface="宋体" panose="02010600030101010101" pitchFamily="2" charset="-122"/>
              </a:rPr>
              <a:t>2</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设该节点的度为</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，从该节点引出</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条随机路线，每遇到一个节点时都执行随机选择，每条路线的长度为</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w</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100" dirty="0">
                <a:effectLst/>
                <a:latin typeface="Times New Roman" panose="02020603050405020304" pitchFamily="18" charset="0"/>
                <a:ea typeface="宋体" panose="02010600030101010101" pitchFamily="2" charset="-122"/>
              </a:rPr>
              <a:t>3</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待测节点</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也通过</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随机游走</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的方式进行路线选择，如果两个节点走出的路线有超过某一阈值</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的数量相交时，就认为</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是诚实节点，否则就认为它是</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Sybil</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节点。一般取</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t=d/2</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1400" dirty="0"/>
          </a:p>
        </p:txBody>
      </p:sp>
      <p:sp>
        <p:nvSpPr>
          <p:cNvPr id="10" name="文本框 9">
            <a:extLst>
              <a:ext uri="{FF2B5EF4-FFF2-40B4-BE49-F238E27FC236}">
                <a16:creationId xmlns:a16="http://schemas.microsoft.com/office/drawing/2014/main" id="{9CA9E6C6-5618-4022-97AD-DAAE9BDAFCDF}"/>
              </a:ext>
            </a:extLst>
          </p:cNvPr>
          <p:cNvSpPr txBox="1"/>
          <p:nvPr/>
        </p:nvSpPr>
        <p:spPr>
          <a:xfrm>
            <a:off x="3284984" y="2472590"/>
            <a:ext cx="3429000" cy="253916"/>
          </a:xfrm>
          <a:prstGeom prst="rect">
            <a:avLst/>
          </a:prstGeom>
          <a:noFill/>
        </p:spPr>
        <p:txBody>
          <a:bodyPr wrap="square">
            <a:spAutoFit/>
          </a:bodyPr>
          <a:lstStyle/>
          <a:p>
            <a:pPr indent="127000" algn="ct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050" b="1" kern="100" dirty="0">
                <a:effectLst/>
                <a:latin typeface="Times New Roman" panose="02020603050405020304" pitchFamily="18" charset="0"/>
                <a:ea typeface="等线" panose="02010600030101010101" pitchFamily="2" charset="-122"/>
                <a:cs typeface="Times New Roman" panose="02020603050405020304" pitchFamily="18" charset="0"/>
              </a:rPr>
              <a:t>2 </a:t>
            </a: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女巫攻击网络图谱示意</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6C27294B-D22B-424A-B0FA-C7F6F35A1D8B}"/>
              </a:ext>
            </a:extLst>
          </p:cNvPr>
          <p:cNvSpPr txBox="1"/>
          <p:nvPr/>
        </p:nvSpPr>
        <p:spPr>
          <a:xfrm>
            <a:off x="526246" y="1203598"/>
            <a:ext cx="3478818"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）社交网络正在快速混合</a:t>
            </a:r>
            <a:r>
              <a:rPr kumimoji="0" lang="zh-CN" altLang="en-US"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节点正在快速于其他节点建立联系</a:t>
            </a:r>
            <a:r>
              <a:rPr kumimoji="0" lang="zh-CN" altLang="en-US"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2</a:t>
            </a: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）初始验证的节点一定是诚实节点</a:t>
            </a:r>
            <a:r>
              <a:rPr kumimoji="0" lang="zh-CN" altLang="en-US"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（种子节点）</a:t>
            </a: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3</a:t>
            </a: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）恶意用户可能会创建多个节点，</a:t>
            </a:r>
            <a:r>
              <a:rPr kumimoji="0" lang="zh-CN" altLang="en-US"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但</a:t>
            </a:r>
            <a:r>
              <a:rPr kumimoji="0" lang="en-US"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Sybil</a:t>
            </a:r>
            <a:r>
              <a:rPr kumimoji="0" lang="zh-CN" altLang="zh-CN"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社区相对独立于诚实社区</a:t>
            </a:r>
            <a:r>
              <a:rPr kumimoji="0" lang="zh-CN" altLang="en-US" sz="16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 name="文本框 7">
            <a:extLst>
              <a:ext uri="{FF2B5EF4-FFF2-40B4-BE49-F238E27FC236}">
                <a16:creationId xmlns:a16="http://schemas.microsoft.com/office/drawing/2014/main" id="{6AA73FEE-998F-4351-87D7-9CBCF3AA97F5}"/>
              </a:ext>
            </a:extLst>
          </p:cNvPr>
          <p:cNvSpPr txBox="1"/>
          <p:nvPr/>
        </p:nvSpPr>
        <p:spPr>
          <a:xfrm>
            <a:off x="6260692" y="4536458"/>
            <a:ext cx="288032" cy="369332"/>
          </a:xfrm>
          <a:prstGeom prst="rect">
            <a:avLst/>
          </a:prstGeom>
          <a:noFill/>
        </p:spPr>
        <p:txBody>
          <a:bodyPr wrap="square" rtlCol="0">
            <a:spAutoFit/>
          </a:bodyPr>
          <a:lstStyle/>
          <a:p>
            <a:r>
              <a:rPr lang="en-US" altLang="zh-CN" dirty="0"/>
              <a:t>8</a:t>
            </a:r>
            <a:endParaRPr lang="zh-CN" altLang="en-US" dirty="0"/>
          </a:p>
        </p:txBody>
      </p:sp>
    </p:spTree>
    <p:extLst>
      <p:ext uri="{BB962C8B-B14F-4D97-AF65-F5344CB8AC3E}">
        <p14:creationId xmlns:p14="http://schemas.microsoft.com/office/powerpoint/2010/main" val="2485956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基于随机游走的女巫节点检测算法</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F59312B3-9F9D-4A40-9714-258EFA48E9B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620688" y="3289135"/>
            <a:ext cx="2376264" cy="1440160"/>
          </a:xfrm>
          <a:prstGeom prst="rect">
            <a:avLst/>
          </a:prstGeom>
          <a:noFill/>
          <a:ln>
            <a:noFill/>
          </a:ln>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0F8DDB3-3A50-4B92-88B5-B64F0E07759A}"/>
                  </a:ext>
                </a:extLst>
              </p:cNvPr>
              <p:cNvSpPr txBox="1"/>
              <p:nvPr/>
            </p:nvSpPr>
            <p:spPr>
              <a:xfrm>
                <a:off x="548680" y="610984"/>
                <a:ext cx="5688632" cy="2711191"/>
              </a:xfrm>
              <a:prstGeom prst="rect">
                <a:avLst/>
              </a:prstGeom>
              <a:noFill/>
            </p:spPr>
            <p:txBody>
              <a:bodyPr wrap="square" rtlCol="0">
                <a:spAutoFit/>
              </a:bodyPr>
              <a:lstStyle/>
              <a:p>
                <a:pPr marL="285750" indent="-285750">
                  <a:buFont typeface="Wingdings" pitchFamily="2" charset="2"/>
                  <a:buChar char="n"/>
                </a:pPr>
                <a:r>
                  <a:rPr lang="en-US" altLang="zh-CN" sz="2000" b="1" dirty="0"/>
                  <a:t>SybilLimit</a:t>
                </a:r>
                <a:endParaRPr lang="en-US" altLang="zh-CN" sz="800" kern="100" dirty="0">
                  <a:effectLst/>
                  <a:latin typeface="等线" panose="02010600030101010101" pitchFamily="2" charset="-122"/>
                  <a:ea typeface="宋体" panose="02010600030101010101" pitchFamily="2" charset="-122"/>
                  <a:cs typeface="Times New Roman" panose="02020603050405020304" pitchFamily="18" charset="0"/>
                </a:endParaRPr>
              </a:p>
              <a:p>
                <a:pPr marL="285750" indent="-285750">
                  <a:buFont typeface="Wingdings" panose="05000000000000000000" pitchFamily="2" charset="2"/>
                  <a:buChar char="Ø"/>
                </a:pPr>
                <a:r>
                  <a:rPr lang="zh-CN" altLang="en-US" sz="1600" b="1" dirty="0"/>
                  <a:t>与</a:t>
                </a:r>
                <a:r>
                  <a:rPr lang="en-US" altLang="zh-CN" sz="1600" b="1" dirty="0" err="1"/>
                  <a:t>SybilGuard</a:t>
                </a:r>
                <a:r>
                  <a:rPr lang="zh-CN" altLang="en-US" sz="1600" b="1" dirty="0"/>
                  <a:t>的主要区别：</a:t>
                </a:r>
                <a:endParaRPr lang="en-US" altLang="zh-CN" sz="1600" b="1" dirty="0"/>
              </a:p>
              <a:p>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100" dirty="0">
                    <a:effectLst/>
                    <a:latin typeface="Times New Roman" panose="02020603050405020304" pitchFamily="18" charset="0"/>
                    <a:ea typeface="宋体" panose="02010600030101010101" pitchFamily="2" charset="-122"/>
                  </a:rPr>
                  <a:t>1</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）交叉点条件：每个节点使用</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𝑟</m:t>
                    </m:r>
                  </m:oMath>
                </a14:m>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个长度为</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𝑤</m:t>
                    </m:r>
                  </m:oMath>
                </a14:m>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的随机路径进行</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并行</a:t>
                </a:r>
                <a:r>
                  <a:rPr lang="zh-CN" altLang="zh-CN"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游走</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，而不是一次一条。从而降低了攻击者利用搜索间隙发动攻击的可能性。</a:t>
                </a:r>
                <a:r>
                  <a:rPr lang="en-US" altLang="zh-CN" sz="1600" kern="100" dirty="0">
                    <a:cs typeface="Times New Roman" panose="02020603050405020304" pitchFamily="18" charset="0"/>
                  </a:rPr>
                  <a:t> </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𝑟</m:t>
                    </m:r>
                    <m:r>
                      <a:rPr lang="en-US" altLang="zh-CN" sz="1600" i="1" kern="100">
                        <a:latin typeface="Cambria Math" panose="02040503050406030204" pitchFamily="18" charset="0"/>
                        <a:cs typeface="Times New Roman" panose="02020603050405020304" pitchFamily="18" charset="0"/>
                      </a:rPr>
                      <m:t>=</m:t>
                    </m:r>
                    <m:r>
                      <a:rPr lang="en-US" altLang="zh-CN" sz="1600" i="1" kern="100">
                        <a:latin typeface="Cambria Math" panose="02040503050406030204" pitchFamily="18" charset="0"/>
                        <a:cs typeface="Times New Roman" panose="02020603050405020304" pitchFamily="18" charset="0"/>
                      </a:rPr>
                      <m:t>𝑜</m:t>
                    </m:r>
                    <m:r>
                      <a:rPr lang="en-US" altLang="zh-CN" sz="1600" i="1" kern="100">
                        <a:latin typeface="Cambria Math" panose="02040503050406030204" pitchFamily="18" charset="0"/>
                        <a:cs typeface="Times New Roman" panose="02020603050405020304" pitchFamily="18" charset="0"/>
                      </a:rPr>
                      <m:t>(</m:t>
                    </m:r>
                    <m:rad>
                      <m:radPr>
                        <m:degHide m:val="on"/>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1600" i="1" kern="100">
                            <a:latin typeface="Cambria Math" panose="02040503050406030204" pitchFamily="18" charset="0"/>
                            <a:cs typeface="Times New Roman" panose="02020603050405020304" pitchFamily="18" charset="0"/>
                          </a:rPr>
                          <m:t>𝑛</m:t>
                        </m:r>
                      </m:e>
                    </m:rad>
                    <m:r>
                      <a:rPr lang="en-US" altLang="zh-CN" sz="1600" i="1" kern="100">
                        <a:latin typeface="Cambria Math" panose="02040503050406030204" pitchFamily="18" charset="0"/>
                        <a:cs typeface="Times New Roman" panose="02020603050405020304" pitchFamily="18" charset="0"/>
                      </a:rPr>
                      <m:t>)</m:t>
                    </m:r>
                  </m:oMath>
                </a14:m>
                <a:r>
                  <a:rPr lang="en-US" altLang="zh-CN" sz="1600" kern="100" dirty="0">
                    <a:cs typeface="Times New Roman" panose="02020603050405020304" pitchFamily="18" charset="0"/>
                  </a:rPr>
                  <a:t>  </a:t>
                </a:r>
                <a:r>
                  <a:rPr lang="zh-CN" altLang="en-US" sz="1600" kern="100" dirty="0">
                    <a:cs typeface="Times New Roman" panose="02020603050405020304" pitchFamily="18" charset="0"/>
                  </a:rPr>
                  <a:t>、</a:t>
                </a:r>
                <a:r>
                  <a:rPr lang="en-US" altLang="zh-CN" sz="1600" kern="100" dirty="0">
                    <a:cs typeface="Times New Roman" panose="02020603050405020304" pitchFamily="18" charset="0"/>
                  </a:rPr>
                  <a:t> </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𝑤</m:t>
                    </m:r>
                    <m:r>
                      <a:rPr lang="en-US" altLang="zh-CN" sz="1600" i="1" kern="100">
                        <a:latin typeface="Cambria Math" panose="02040503050406030204" pitchFamily="18" charset="0"/>
                        <a:cs typeface="Times New Roman" panose="02020603050405020304" pitchFamily="18" charset="0"/>
                      </a:rPr>
                      <m:t>=</m:t>
                    </m:r>
                    <m:r>
                      <a:rPr lang="en-US" altLang="zh-CN" sz="1600" i="1" kern="100">
                        <a:latin typeface="Cambria Math" panose="02040503050406030204" pitchFamily="18" charset="0"/>
                        <a:cs typeface="Times New Roman" panose="02020603050405020304" pitchFamily="18" charset="0"/>
                      </a:rPr>
                      <m:t>𝑜</m:t>
                    </m:r>
                    <m:r>
                      <a:rPr lang="en-US" altLang="zh-CN" sz="1600" i="1" kern="100">
                        <a:latin typeface="Cambria Math" panose="02040503050406030204" pitchFamily="18" charset="0"/>
                        <a:cs typeface="Times New Roman" panose="02020603050405020304" pitchFamily="18" charset="0"/>
                      </a:rPr>
                      <m:t>(</m:t>
                    </m:r>
                    <m:func>
                      <m:func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funcPr>
                      <m:fName>
                        <m:r>
                          <a:rPr lang="en-US" altLang="zh-CN" sz="1600" kern="100">
                            <a:latin typeface="Cambria Math" panose="02040503050406030204" pitchFamily="18" charset="0"/>
                            <a:cs typeface="Times New Roman" panose="02020603050405020304" pitchFamily="18" charset="0"/>
                          </a:rPr>
                          <m:t> </m:t>
                        </m:r>
                        <m:r>
                          <m:rPr>
                            <m:sty m:val="p"/>
                          </m:rPr>
                          <a:rPr lang="en-US" altLang="zh-CN" sz="1600" kern="100">
                            <a:latin typeface="Cambria Math" panose="02040503050406030204" pitchFamily="18" charset="0"/>
                            <a:cs typeface="Times New Roman" panose="02020603050405020304" pitchFamily="18" charset="0"/>
                          </a:rPr>
                          <m:t>log</m:t>
                        </m:r>
                      </m:fName>
                      <m:e>
                        <m:r>
                          <a:rPr lang="en-US" altLang="zh-CN" sz="1600" i="1" kern="100">
                            <a:latin typeface="Cambria Math" panose="02040503050406030204" pitchFamily="18" charset="0"/>
                            <a:cs typeface="Times New Roman" panose="02020603050405020304" pitchFamily="18" charset="0"/>
                          </a:rPr>
                          <m:t>𝑛</m:t>
                        </m:r>
                      </m:e>
                    </m:func>
                    <m:r>
                      <a:rPr lang="en-US" altLang="zh-CN" sz="1600" i="1" kern="100">
                        <a:latin typeface="Cambria Math" panose="02040503050406030204" pitchFamily="18" charset="0"/>
                        <a:cs typeface="Times New Roman" panose="02020603050405020304" pitchFamily="18" charset="0"/>
                      </a:rPr>
                      <m:t>)</m:t>
                    </m:r>
                  </m:oMath>
                </a14:m>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100" dirty="0">
                    <a:effectLst/>
                    <a:latin typeface="Times New Roman" panose="02020603050405020304" pitchFamily="18" charset="0"/>
                    <a:ea typeface="宋体" panose="02010600030101010101" pitchFamily="2" charset="-122"/>
                  </a:rPr>
                  <a:t>2</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平衡条件：</a:t>
                </a:r>
                <a:r>
                  <a:rPr lang="en-US" altLang="zh-CN" sz="1600" kern="100" dirty="0" err="1">
                    <a:effectLst/>
                    <a:latin typeface="Times New Roman" panose="02020603050405020304" pitchFamily="18" charset="0"/>
                    <a:ea typeface="宋体" panose="02010600030101010101" pitchFamily="2" charset="-122"/>
                    <a:cs typeface="Times New Roman" panose="02020603050405020304" pitchFamily="18" charset="0"/>
                  </a:rPr>
                  <a:t>SybilLimit</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依靠其</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新的平衡条件</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来解决原方法中的未命中路线。</a:t>
                </a:r>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100" dirty="0">
                    <a:effectLst/>
                    <a:latin typeface="Times New Roman" panose="02020603050405020304" pitchFamily="18" charset="0"/>
                    <a:ea typeface="宋体" panose="02010600030101010101" pitchFamily="2" charset="-122"/>
                  </a:rPr>
                  <a:t>3</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600" kern="100" dirty="0">
                    <a:effectLst/>
                    <a:latin typeface="Times New Roman" panose="02020603050405020304" pitchFamily="18" charset="0"/>
                    <a:cs typeface="Times New Roman" panose="02020603050405020304" pitchFamily="18" charset="0"/>
                  </a:rPr>
                  <a:t>参数估计技术：使用一种</a:t>
                </a:r>
                <a:r>
                  <a:rPr lang="zh-CN" altLang="zh-CN" sz="1600" kern="100" dirty="0">
                    <a:solidFill>
                      <a:srgbClr val="FF0000"/>
                    </a:solidFill>
                    <a:effectLst/>
                    <a:latin typeface="Times New Roman" panose="02020603050405020304" pitchFamily="18" charset="0"/>
                    <a:cs typeface="Times New Roman" panose="02020603050405020304" pitchFamily="18" charset="0"/>
                  </a:rPr>
                  <a:t>新的参数估计技术</a:t>
                </a:r>
                <a:r>
                  <a:rPr lang="zh-CN" altLang="zh-CN" sz="1600" kern="100" dirty="0">
                    <a:effectLst/>
                    <a:latin typeface="Times New Roman" panose="02020603050405020304" pitchFamily="18" charset="0"/>
                    <a:cs typeface="Times New Roman" panose="02020603050405020304" pitchFamily="18" charset="0"/>
                  </a:rPr>
                  <a:t>，将</a:t>
                </a:r>
                <a:r>
                  <a:rPr lang="en-US" altLang="zh-CN" sz="1600" kern="100" dirty="0">
                    <a:effectLst/>
                    <a:latin typeface="Times New Roman" panose="02020603050405020304" pitchFamily="18" charset="0"/>
                    <a:ea typeface="等线" panose="02010600030101010101" pitchFamily="2" charset="-122"/>
                    <a:cs typeface="Times New Roman" panose="02020603050405020304" pitchFamily="18" charset="0"/>
                  </a:rPr>
                  <a:t>Sybil</a:t>
                </a:r>
                <a:r>
                  <a:rPr lang="zh-CN" altLang="zh-CN" sz="1600" kern="100" dirty="0">
                    <a:effectLst/>
                    <a:latin typeface="Times New Roman" panose="02020603050405020304" pitchFamily="18" charset="0"/>
                    <a:cs typeface="Times New Roman" panose="02020603050405020304" pitchFamily="18" charset="0"/>
                  </a:rPr>
                  <a:t>节点和诚实节点放在一起估计，保证了无论攻击者行为</a:t>
                </a:r>
                <a:r>
                  <a:rPr lang="zh-CN" altLang="en-US" sz="1600" kern="100" dirty="0">
                    <a:effectLst/>
                    <a:latin typeface="Times New Roman" panose="02020603050405020304" pitchFamily="18" charset="0"/>
                    <a:cs typeface="Times New Roman" panose="02020603050405020304" pitchFamily="18" charset="0"/>
                  </a:rPr>
                  <a:t>如何，</a:t>
                </a:r>
                <a:r>
                  <a:rPr lang="zh-CN" altLang="zh-CN" sz="1600" kern="100" dirty="0">
                    <a:effectLst/>
                    <a:latin typeface="Times New Roman" panose="02020603050405020304" pitchFamily="18" charset="0"/>
                    <a:cs typeface="Times New Roman" panose="02020603050405020304" pitchFamily="18" charset="0"/>
                  </a:rPr>
                  <a:t>都不会过高估计参数</a:t>
                </a:r>
                <a14:m>
                  <m:oMath xmlns:m="http://schemas.openxmlformats.org/officeDocument/2006/math">
                    <m:r>
                      <a:rPr lang="en-US" altLang="zh-CN" sz="1600" i="1" kern="100" smtClean="0">
                        <a:latin typeface="Cambria Math" panose="02040503050406030204" pitchFamily="18" charset="0"/>
                        <a:cs typeface="Times New Roman" panose="02020603050405020304" pitchFamily="18" charset="0"/>
                      </a:rPr>
                      <m:t>𝑟</m:t>
                    </m:r>
                    <m:r>
                      <a:rPr lang="en-US" altLang="zh-CN" sz="1600" i="1" kern="100" smtClean="0">
                        <a:latin typeface="Cambria Math" panose="02040503050406030204" pitchFamily="18" charset="0"/>
                        <a:cs typeface="Times New Roman" panose="02020603050405020304" pitchFamily="18" charset="0"/>
                      </a:rPr>
                      <m:t> </m:t>
                    </m:r>
                  </m:oMath>
                </a14:m>
                <a:r>
                  <a:rPr lang="zh-CN" altLang="en-US" sz="1600" kern="100" dirty="0">
                    <a:effectLst/>
                    <a:latin typeface="Times New Roman" panose="02020603050405020304" pitchFamily="18" charset="0"/>
                    <a:cs typeface="Times New Roman" panose="02020603050405020304" pitchFamily="18" charset="0"/>
                  </a:rPr>
                  <a:t>：</a:t>
                </a:r>
                <a:r>
                  <a:rPr lang="zh-CN" altLang="zh-CN" sz="1600" kern="100" dirty="0">
                    <a:effectLst/>
                    <a:latin typeface="Times New Roman" panose="02020603050405020304" pitchFamily="18" charset="0"/>
                    <a:cs typeface="Times New Roman" panose="02020603050405020304" pitchFamily="18" charset="0"/>
                  </a:rPr>
                  <a:t>同时游走条数。</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A0F8DDB3-3A50-4B92-88B5-B64F0E07759A}"/>
                  </a:ext>
                </a:extLst>
              </p:cNvPr>
              <p:cNvSpPr txBox="1">
                <a:spLocks noRot="1" noChangeAspect="1" noMove="1" noResize="1" noEditPoints="1" noAdjustHandles="1" noChangeArrowheads="1" noChangeShapeType="1" noTextEdit="1"/>
              </p:cNvSpPr>
              <p:nvPr/>
            </p:nvSpPr>
            <p:spPr>
              <a:xfrm>
                <a:off x="548680" y="610984"/>
                <a:ext cx="5688632" cy="2711191"/>
              </a:xfrm>
              <a:prstGeom prst="rect">
                <a:avLst/>
              </a:prstGeom>
              <a:blipFill>
                <a:blip r:embed="rId3"/>
                <a:stretch>
                  <a:fillRect l="-965" t="-1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C76FA993-5CE1-4ED8-80DB-810ADCE6C660}"/>
                  </a:ext>
                </a:extLst>
              </p:cNvPr>
              <p:cNvGraphicFramePr>
                <a:graphicFrameLocks noGrp="1"/>
              </p:cNvGraphicFramePr>
              <p:nvPr>
                <p:extLst>
                  <p:ext uri="{D42A27DB-BD31-4B8C-83A1-F6EECF244321}">
                    <p14:modId xmlns:p14="http://schemas.microsoft.com/office/powerpoint/2010/main" val="2668644727"/>
                  </p:ext>
                </p:extLst>
              </p:nvPr>
            </p:nvGraphicFramePr>
            <p:xfrm>
              <a:off x="3284984" y="3523933"/>
              <a:ext cx="2880318" cy="1390669"/>
            </p:xfrm>
            <a:graphic>
              <a:graphicData uri="http://schemas.openxmlformats.org/drawingml/2006/table">
                <a:tbl>
                  <a:tblPr firstRow="1" firstCol="1" bandRow="1"/>
                  <a:tblGrid>
                    <a:gridCol w="959720">
                      <a:extLst>
                        <a:ext uri="{9D8B030D-6E8A-4147-A177-3AD203B41FA5}">
                          <a16:colId xmlns:a16="http://schemas.microsoft.com/office/drawing/2014/main" val="1109304203"/>
                        </a:ext>
                      </a:extLst>
                    </a:gridCol>
                    <a:gridCol w="960299">
                      <a:extLst>
                        <a:ext uri="{9D8B030D-6E8A-4147-A177-3AD203B41FA5}">
                          <a16:colId xmlns:a16="http://schemas.microsoft.com/office/drawing/2014/main" val="754384300"/>
                        </a:ext>
                      </a:extLst>
                    </a:gridCol>
                    <a:gridCol w="960299">
                      <a:extLst>
                        <a:ext uri="{9D8B030D-6E8A-4147-A177-3AD203B41FA5}">
                          <a16:colId xmlns:a16="http://schemas.microsoft.com/office/drawing/2014/main" val="1836421367"/>
                        </a:ext>
                      </a:extLst>
                    </a:gridCol>
                  </a:tblGrid>
                  <a:tr h="211782">
                    <a:tc rowSpan="2">
                      <a:txBody>
                        <a:bodyPr/>
                        <a:lstStyle/>
                        <a:p>
                          <a:pPr indent="127000" algn="ct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攻击边数</a:t>
                          </a:r>
                          <a:r>
                            <a:rPr lang="en-US" sz="1000" kern="0" dirty="0">
                              <a:effectLst/>
                              <a:latin typeface="Times New Roman" panose="02020603050405020304" pitchFamily="18" charset="0"/>
                              <a:ea typeface="等线" panose="02010600030101010101" pitchFamily="2" charset="-122"/>
                              <a:cs typeface="Times New Roman" panose="02020603050405020304" pitchFamily="18" charset="0"/>
                            </a:rPr>
                            <a:t>g</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ct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（协议未知）</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indent="266700" algn="ct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接受节点数量</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30065544"/>
                      </a:ext>
                    </a:extLst>
                  </a:tr>
                  <a:tr h="211782">
                    <a:tc vMerge="1">
                      <a:txBody>
                        <a:bodyPr/>
                        <a:lstStyle/>
                        <a:p>
                          <a:endParaRPr lang="zh-CN" altLang="en-US"/>
                        </a:p>
                      </a:txBody>
                      <a:tcPr/>
                    </a:tc>
                    <a:tc>
                      <a:txBody>
                        <a:bodyPr/>
                        <a:lstStyle/>
                        <a:p>
                          <a:pPr indent="127000" algn="ctr"/>
                          <a:r>
                            <a:rPr lang="en-US" sz="1000" kern="0" dirty="0" err="1">
                              <a:effectLst/>
                              <a:latin typeface="Times New Roman" panose="02020603050405020304" pitchFamily="18" charset="0"/>
                              <a:ea typeface="等线" panose="02010600030101010101" pitchFamily="2" charset="-122"/>
                              <a:cs typeface="Times New Roman" panose="02020603050405020304" pitchFamily="18" charset="0"/>
                            </a:rPr>
                            <a:t>SybilGuard</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en-US" sz="1000" kern="0" dirty="0" err="1">
                              <a:effectLst/>
                              <a:latin typeface="Times New Roman" panose="02020603050405020304" pitchFamily="18" charset="0"/>
                              <a:ea typeface="等线" panose="02010600030101010101" pitchFamily="2" charset="-122"/>
                              <a:cs typeface="Times New Roman" panose="02020603050405020304" pitchFamily="18" charset="0"/>
                            </a:rPr>
                            <a:t>SybilLimit</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4476814"/>
                      </a:ext>
                    </a:extLst>
                  </a:tr>
                  <a:tr h="203454">
                    <a:tc>
                      <a:txBody>
                        <a:bodyPr/>
                        <a:lstStyle/>
                        <a:p>
                          <a:pPr indent="127000" algn="ctr"/>
                          <a14:m>
                            <m:oMathPara xmlns:m="http://schemas.openxmlformats.org/officeDocument/2006/math">
                              <m:oMathParaPr>
                                <m:jc m:val="centerGroup"/>
                              </m:oMathParaPr>
                              <m:oMath xmlns:m="http://schemas.openxmlformats.org/officeDocument/2006/math">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𝑜</m:t>
                                </m:r>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rad>
                                  <m:radPr>
                                    <m:degHide m:val="on"/>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rad>
                                <m:func>
                                  <m:funcPr>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funcPr>
                                  <m:fName>
                                    <m:r>
                                      <a:rPr lang="en-US" sz="1000" kern="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sz="1000" kern="0">
                                        <a:effectLst/>
                                        <a:latin typeface="Cambria Math" panose="02040503050406030204" pitchFamily="18" charset="0"/>
                                        <a:ea typeface="等线" panose="02010600030101010101" pitchFamily="2" charset="-122"/>
                                        <a:cs typeface="Times New Roman" panose="02020603050405020304" pitchFamily="18" charset="0"/>
                                      </a:rPr>
                                      <m:t>log</m:t>
                                    </m:r>
                                  </m:fName>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func>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14:m>
                            <m:oMathPara xmlns:m="http://schemas.openxmlformats.org/officeDocument/2006/math">
                              <m:oMathParaPr>
                                <m:jc m:val="centerGroup"/>
                              </m:oMathParaPr>
                              <m:oMath xmlns:m="http://schemas.openxmlformats.org/officeDocument/2006/math">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𝑜</m:t>
                                </m:r>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rad>
                                  <m:radPr>
                                    <m:degHide m:val="on"/>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rad>
                                <m:func>
                                  <m:funcPr>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funcPr>
                                  <m:fName>
                                    <m:r>
                                      <a:rPr lang="en-US" sz="1000" kern="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sz="1000" kern="0">
                                        <a:effectLst/>
                                        <a:latin typeface="Cambria Math" panose="02040503050406030204" pitchFamily="18" charset="0"/>
                                        <a:ea typeface="等线" panose="02010600030101010101" pitchFamily="2" charset="-122"/>
                                        <a:cs typeface="Times New Roman" panose="02020603050405020304" pitchFamily="18" charset="0"/>
                                      </a:rPr>
                                      <m:t>log</m:t>
                                    </m:r>
                                  </m:fName>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func>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14:m>
                            <m:oMathPara xmlns:m="http://schemas.openxmlformats.org/officeDocument/2006/math">
                              <m:oMathParaPr>
                                <m:jc m:val="centerGroup"/>
                              </m:oMathParaPr>
                              <m:oMath xmlns:m="http://schemas.openxmlformats.org/officeDocument/2006/math">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𝑜</m:t>
                                </m:r>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func>
                                  <m:funcPr>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funcPr>
                                  <m:fName>
                                    <m:r>
                                      <a:rPr lang="en-US" sz="1000" kern="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sz="1000" kern="0">
                                        <a:effectLst/>
                                        <a:latin typeface="Cambria Math" panose="02040503050406030204" pitchFamily="18" charset="0"/>
                                        <a:ea typeface="等线" panose="02010600030101010101" pitchFamily="2" charset="-122"/>
                                        <a:cs typeface="Times New Roman" panose="02020603050405020304" pitchFamily="18" charset="0"/>
                                      </a:rPr>
                                      <m:t>log</m:t>
                                    </m:r>
                                  </m:fName>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func>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9769775"/>
                      </a:ext>
                    </a:extLst>
                  </a:tr>
                  <a:tr h="211782">
                    <a:tc>
                      <a:txBody>
                        <a:bodyPr/>
                        <a:lstStyle/>
                        <a:p>
                          <a:pPr indent="127000" algn="ctr"/>
                          <a14:m>
                            <m:oMath xmlns:m="http://schemas.openxmlformats.org/officeDocument/2006/math">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𝑜</m:t>
                              </m:r>
                              <m:d>
                                <m:dPr>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dPr>
                                <m:e>
                                  <m:rad>
                                    <m:radPr>
                                      <m:degHide m:val="on"/>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rad>
                                  <m:func>
                                    <m:funcPr>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funcPr>
                                    <m:fName>
                                      <m:r>
                                        <a:rPr lang="en-US" sz="1000" kern="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sz="1000" kern="0">
                                          <a:effectLst/>
                                          <a:latin typeface="Cambria Math" panose="02040503050406030204" pitchFamily="18" charset="0"/>
                                          <a:ea typeface="等线" panose="02010600030101010101" pitchFamily="2" charset="-122"/>
                                          <a:cs typeface="Times New Roman" panose="02020603050405020304" pitchFamily="18" charset="0"/>
                                        </a:rPr>
                                        <m:t>log</m:t>
                                      </m:r>
                                    </m:fName>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func>
                                </m:e>
                              </m:d>
                            </m:oMath>
                          </a14:m>
                          <a:r>
                            <a:rPr lang="zh-CN" sz="1000" kern="0">
                              <a:effectLst/>
                              <a:latin typeface="Times New Roman" panose="02020603050405020304" pitchFamily="18" charset="0"/>
                              <a:ea typeface="宋体" panose="02010600030101010101" pitchFamily="2" charset="-122"/>
                              <a:cs typeface="Times New Roman" panose="02020603050405020304" pitchFamily="18" charset="0"/>
                            </a:rPr>
                            <a:t>到</a:t>
                          </a:r>
                          <a14:m>
                            <m:oMath xmlns:m="http://schemas.openxmlformats.org/officeDocument/2006/math">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𝑜</m:t>
                              </m:r>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func>
                                <m:funcPr>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funcPr>
                                <m:fName>
                                  <m:r>
                                    <a:rPr lang="en-US" sz="1000" kern="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sz="1000" kern="0">
                                      <a:effectLst/>
                                      <a:latin typeface="Cambria Math" panose="02040503050406030204" pitchFamily="18" charset="0"/>
                                      <a:ea typeface="等线" panose="02010600030101010101" pitchFamily="2" charset="-122"/>
                                      <a:cs typeface="Times New Roman" panose="02020603050405020304" pitchFamily="18" charset="0"/>
                                    </a:rPr>
                                    <m:t>log</m:t>
                                  </m:r>
                                </m:fName>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func>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oMath>
                          </a14:m>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无限制</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14:m>
                            <m:oMathPara xmlns:m="http://schemas.openxmlformats.org/officeDocument/2006/math">
                              <m:oMathParaPr>
                                <m:jc m:val="centerGroup"/>
                              </m:oMathParaPr>
                              <m:oMath xmlns:m="http://schemas.openxmlformats.org/officeDocument/2006/math">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𝑜</m:t>
                                </m:r>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func>
                                  <m:funcPr>
                                    <m:ctrlPr>
                                      <a:rPr lang="zh-CN" sz="1000" i="1" kern="0">
                                        <a:effectLst/>
                                        <a:latin typeface="Cambria Math" panose="02040503050406030204" pitchFamily="18" charset="0"/>
                                        <a:ea typeface="Cambria Math" panose="02040503050406030204" pitchFamily="18" charset="0"/>
                                        <a:cs typeface="Times New Roman" panose="02020603050405020304" pitchFamily="18" charset="0"/>
                                      </a:rPr>
                                    </m:ctrlPr>
                                  </m:funcPr>
                                  <m:fName>
                                    <m:r>
                                      <a:rPr lang="en-US" sz="1000" kern="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sz="1000" kern="0">
                                        <a:effectLst/>
                                        <a:latin typeface="Cambria Math" panose="02040503050406030204" pitchFamily="18" charset="0"/>
                                        <a:ea typeface="等线" panose="02010600030101010101" pitchFamily="2" charset="-122"/>
                                        <a:cs typeface="Times New Roman" panose="02020603050405020304" pitchFamily="18" charset="0"/>
                                      </a:rPr>
                                      <m:t>log</m:t>
                                    </m:r>
                                  </m:fName>
                                  <m:e>
                                    <m:r>
                                      <a:rPr lang="en-US" sz="1000" i="1" kern="0">
                                        <a:effectLst/>
                                        <a:latin typeface="Cambria Math" panose="02040503050406030204" pitchFamily="18" charset="0"/>
                                        <a:ea typeface="等线" panose="02010600030101010101" pitchFamily="2" charset="-122"/>
                                        <a:cs typeface="Times New Roman" panose="02020603050405020304" pitchFamily="18" charset="0"/>
                                      </a:rPr>
                                      <m:t>𝑛</m:t>
                                    </m:r>
                                  </m:e>
                                </m:func>
                                <m:r>
                                  <a:rPr lang="en-US" sz="1000" i="1" kern="0">
                                    <a:effectLst/>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7888709"/>
                      </a:ext>
                    </a:extLst>
                  </a:tr>
                  <a:tr h="149913">
                    <a:tc>
                      <a:txBody>
                        <a:bodyPr/>
                        <a:lstStyle/>
                        <a:p>
                          <a:pPr indent="127000" algn="ctr"/>
                          <a:r>
                            <a:rPr lang="zh-CN" sz="1000" kern="0">
                              <a:effectLst/>
                              <a:latin typeface="Times New Roman" panose="02020603050405020304" pitchFamily="18" charset="0"/>
                              <a:ea typeface="宋体" panose="02010600030101010101" pitchFamily="2" charset="-122"/>
                              <a:cs typeface="Times New Roman" panose="02020603050405020304" pitchFamily="18" charset="0"/>
                            </a:rPr>
                            <a:t>小于</a:t>
                          </a:r>
                          <a:r>
                            <a:rPr lang="en-US" sz="1000" kern="0">
                              <a:effectLst/>
                              <a:latin typeface="Times New Roman" panose="02020603050405020304" pitchFamily="18" charset="0"/>
                              <a:ea typeface="等线" panose="02010600030101010101" pitchFamily="2" charset="-122"/>
                              <a:cs typeface="Times New Roman" panose="02020603050405020304" pitchFamily="18" charset="0"/>
                            </a:rPr>
                            <a:t>15,000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en-US" sz="1000" kern="0" dirty="0">
                              <a:effectLst/>
                              <a:latin typeface="Times New Roman" panose="02020603050405020304" pitchFamily="18" charset="0"/>
                              <a:ea typeface="等线" panose="02010600030101010101" pitchFamily="2" charset="-122"/>
                              <a:cs typeface="Times New Roman" panose="02020603050405020304" pitchFamily="18" charset="0"/>
                            </a:rPr>
                            <a:t>2000</a:t>
                          </a: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左右</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en-US" sz="1000" kern="0" dirty="0">
                              <a:effectLst/>
                              <a:latin typeface="Times New Roman" panose="02020603050405020304" pitchFamily="18" charset="0"/>
                              <a:ea typeface="等线" panose="02010600030101010101" pitchFamily="2" charset="-122"/>
                              <a:cs typeface="Times New Roman" panose="02020603050405020304" pitchFamily="18" charset="0"/>
                            </a:rPr>
                            <a:t>10</a:t>
                          </a: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左右</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1902500"/>
                      </a:ext>
                    </a:extLst>
                  </a:tr>
                  <a:tr h="211782">
                    <a:tc>
                      <a:txBody>
                        <a:bodyPr/>
                        <a:lstStyle/>
                        <a:p>
                          <a:pPr indent="127000" algn="ctr"/>
                          <a:r>
                            <a:rPr lang="zh-CN" sz="1000" kern="0">
                              <a:effectLst/>
                              <a:latin typeface="Times New Roman" panose="02020603050405020304" pitchFamily="18" charset="0"/>
                              <a:ea typeface="宋体" panose="02010600030101010101" pitchFamily="2" charset="-122"/>
                              <a:cs typeface="Times New Roman" panose="02020603050405020304" pitchFamily="18" charset="0"/>
                            </a:rPr>
                            <a:t>大于</a:t>
                          </a:r>
                          <a:r>
                            <a:rPr lang="en-US" sz="1000" kern="0">
                              <a:effectLst/>
                              <a:latin typeface="Times New Roman" panose="02020603050405020304" pitchFamily="18" charset="0"/>
                              <a:ea typeface="等线" panose="02010600030101010101" pitchFamily="2" charset="-122"/>
                              <a:cs typeface="Times New Roman" panose="02020603050405020304" pitchFamily="18" charset="0"/>
                            </a:rPr>
                            <a:t>15,000</a:t>
                          </a:r>
                          <a:r>
                            <a:rPr lang="zh-CN" sz="1000" kern="0">
                              <a:effectLst/>
                              <a:latin typeface="Times New Roman" panose="02020603050405020304" pitchFamily="18" charset="0"/>
                              <a:ea typeface="宋体" panose="02010600030101010101" pitchFamily="2" charset="-122"/>
                              <a:cs typeface="Times New Roman" panose="02020603050405020304" pitchFamily="18" charset="0"/>
                            </a:rPr>
                            <a:t>且小于</a:t>
                          </a:r>
                          <a:r>
                            <a:rPr lang="en-US" sz="1000" kern="0">
                              <a:effectLst/>
                              <a:latin typeface="Times New Roman" panose="02020603050405020304" pitchFamily="18" charset="0"/>
                              <a:ea typeface="等线" panose="02010600030101010101" pitchFamily="2" charset="-122"/>
                              <a:cs typeface="Times New Roman" panose="02020603050405020304" pitchFamily="18" charset="0"/>
                            </a:rPr>
                            <a:t>100,000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zh-CN" sz="1000" kern="0">
                              <a:effectLst/>
                              <a:latin typeface="Times New Roman" panose="02020603050405020304" pitchFamily="18" charset="0"/>
                              <a:ea typeface="宋体" panose="02010600030101010101" pitchFamily="2" charset="-122"/>
                              <a:cs typeface="Times New Roman" panose="02020603050405020304" pitchFamily="18" charset="0"/>
                            </a:rPr>
                            <a:t>无限制</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en-US" sz="1000" kern="0" dirty="0">
                              <a:effectLst/>
                              <a:latin typeface="Times New Roman" panose="02020603050405020304" pitchFamily="18" charset="0"/>
                              <a:ea typeface="等线" panose="02010600030101010101" pitchFamily="2" charset="-122"/>
                              <a:cs typeface="Times New Roman" panose="02020603050405020304" pitchFamily="18" charset="0"/>
                            </a:rPr>
                            <a:t>10</a:t>
                          </a: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左右</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351837"/>
                      </a:ext>
                    </a:extLst>
                  </a:tr>
                </a:tbl>
              </a:graphicData>
            </a:graphic>
          </p:graphicFrame>
        </mc:Choice>
        <mc:Fallback xmlns="">
          <p:graphicFrame>
            <p:nvGraphicFramePr>
              <p:cNvPr id="3" name="表格 2">
                <a:extLst>
                  <a:ext uri="{FF2B5EF4-FFF2-40B4-BE49-F238E27FC236}">
                    <a16:creationId xmlns:a16="http://schemas.microsoft.com/office/drawing/2014/main" id="{C76FA993-5CE1-4ED8-80DB-810ADCE6C660}"/>
                  </a:ext>
                </a:extLst>
              </p:cNvPr>
              <p:cNvGraphicFramePr>
                <a:graphicFrameLocks noGrp="1"/>
              </p:cNvGraphicFramePr>
              <p:nvPr>
                <p:extLst>
                  <p:ext uri="{D42A27DB-BD31-4B8C-83A1-F6EECF244321}">
                    <p14:modId xmlns:p14="http://schemas.microsoft.com/office/powerpoint/2010/main" val="2668644727"/>
                  </p:ext>
                </p:extLst>
              </p:nvPr>
            </p:nvGraphicFramePr>
            <p:xfrm>
              <a:off x="3284984" y="3523933"/>
              <a:ext cx="2880318" cy="1390669"/>
            </p:xfrm>
            <a:graphic>
              <a:graphicData uri="http://schemas.openxmlformats.org/drawingml/2006/table">
                <a:tbl>
                  <a:tblPr firstRow="1" firstCol="1" bandRow="1"/>
                  <a:tblGrid>
                    <a:gridCol w="959720">
                      <a:extLst>
                        <a:ext uri="{9D8B030D-6E8A-4147-A177-3AD203B41FA5}">
                          <a16:colId xmlns:a16="http://schemas.microsoft.com/office/drawing/2014/main" val="1109304203"/>
                        </a:ext>
                      </a:extLst>
                    </a:gridCol>
                    <a:gridCol w="960299">
                      <a:extLst>
                        <a:ext uri="{9D8B030D-6E8A-4147-A177-3AD203B41FA5}">
                          <a16:colId xmlns:a16="http://schemas.microsoft.com/office/drawing/2014/main" val="754384300"/>
                        </a:ext>
                      </a:extLst>
                    </a:gridCol>
                    <a:gridCol w="960299">
                      <a:extLst>
                        <a:ext uri="{9D8B030D-6E8A-4147-A177-3AD203B41FA5}">
                          <a16:colId xmlns:a16="http://schemas.microsoft.com/office/drawing/2014/main" val="1836421367"/>
                        </a:ext>
                      </a:extLst>
                    </a:gridCol>
                  </a:tblGrid>
                  <a:tr h="211782">
                    <a:tc rowSpan="2">
                      <a:txBody>
                        <a:bodyPr/>
                        <a:lstStyle/>
                        <a:p>
                          <a:pPr indent="127000" algn="ct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攻击边数</a:t>
                          </a:r>
                          <a:r>
                            <a:rPr lang="en-US" sz="1000" kern="0" dirty="0">
                              <a:effectLst/>
                              <a:latin typeface="Times New Roman" panose="02020603050405020304" pitchFamily="18" charset="0"/>
                              <a:ea typeface="等线" panose="02010600030101010101" pitchFamily="2" charset="-122"/>
                              <a:cs typeface="Times New Roman" panose="02020603050405020304" pitchFamily="18" charset="0"/>
                            </a:rPr>
                            <a:t>g</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ct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（协议未知）</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indent="266700" algn="ct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接受节点数量</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30065544"/>
                      </a:ext>
                    </a:extLst>
                  </a:tr>
                  <a:tr h="211782">
                    <a:tc vMerge="1">
                      <a:txBody>
                        <a:bodyPr/>
                        <a:lstStyle/>
                        <a:p>
                          <a:endParaRPr lang="zh-CN" altLang="en-US"/>
                        </a:p>
                      </a:txBody>
                      <a:tcPr/>
                    </a:tc>
                    <a:tc>
                      <a:txBody>
                        <a:bodyPr/>
                        <a:lstStyle/>
                        <a:p>
                          <a:pPr indent="127000" algn="ctr"/>
                          <a:r>
                            <a:rPr lang="en-US" sz="1000" kern="0" dirty="0" err="1">
                              <a:effectLst/>
                              <a:latin typeface="Times New Roman" panose="02020603050405020304" pitchFamily="18" charset="0"/>
                              <a:ea typeface="等线" panose="02010600030101010101" pitchFamily="2" charset="-122"/>
                              <a:cs typeface="Times New Roman" panose="02020603050405020304" pitchFamily="18" charset="0"/>
                            </a:rPr>
                            <a:t>SybilGuard</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en-US" sz="1000" kern="0" dirty="0" err="1">
                              <a:effectLst/>
                              <a:latin typeface="Times New Roman" panose="02020603050405020304" pitchFamily="18" charset="0"/>
                              <a:ea typeface="等线" panose="02010600030101010101" pitchFamily="2" charset="-122"/>
                              <a:cs typeface="Times New Roman" panose="02020603050405020304" pitchFamily="18" charset="0"/>
                            </a:rPr>
                            <a:t>SybilLimit</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4476814"/>
                      </a:ext>
                    </a:extLst>
                  </a:tr>
                  <a:tr h="203454">
                    <a:tc>
                      <a:txBody>
                        <a:bodyPr/>
                        <a:lstStyle/>
                        <a:p>
                          <a:endParaRPr lang="zh-CN"/>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3" t="-221212" r="-201266" b="-418182"/>
                          </a:stretch>
                        </a:blipFill>
                      </a:tcPr>
                    </a:tc>
                    <a:tc>
                      <a:txBody>
                        <a:bodyPr/>
                        <a:lstStyle/>
                        <a:p>
                          <a:endParaRPr lang="zh-CN"/>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33" t="-221212" r="-101266" b="-418182"/>
                          </a:stretch>
                        </a:blipFill>
                      </a:tcPr>
                    </a:tc>
                    <a:tc>
                      <a:txBody>
                        <a:bodyPr/>
                        <a:lstStyle/>
                        <a:p>
                          <a:endParaRPr lang="zh-CN"/>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633" t="-221212" r="-1266" b="-418182"/>
                          </a:stretch>
                        </a:blipFill>
                      </a:tcPr>
                    </a:tc>
                    <a:extLst>
                      <a:ext uri="{0D108BD9-81ED-4DB2-BD59-A6C34878D82A}">
                        <a16:rowId xmlns:a16="http://schemas.microsoft.com/office/drawing/2014/main" val="3129769775"/>
                      </a:ext>
                    </a:extLst>
                  </a:tr>
                  <a:tr h="306451">
                    <a:tc>
                      <a:txBody>
                        <a:bodyPr/>
                        <a:lstStyle/>
                        <a:p>
                          <a:endParaRPr lang="zh-CN"/>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3" t="-207843" r="-201266" b="-170588"/>
                          </a:stretch>
                        </a:blipFill>
                      </a:tcPr>
                    </a:tc>
                    <a:tc>
                      <a:txBody>
                        <a:bodyPr/>
                        <a:lstStyle/>
                        <a:p>
                          <a:pPr indent="127000" algn="ct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无限制</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633" t="-207843" r="-1266" b="-170588"/>
                          </a:stretch>
                        </a:blipFill>
                      </a:tcPr>
                    </a:tc>
                    <a:extLst>
                      <a:ext uri="{0D108BD9-81ED-4DB2-BD59-A6C34878D82A}">
                        <a16:rowId xmlns:a16="http://schemas.microsoft.com/office/drawing/2014/main" val="3747888709"/>
                      </a:ext>
                    </a:extLst>
                  </a:tr>
                  <a:tr h="152400">
                    <a:tc>
                      <a:txBody>
                        <a:bodyPr/>
                        <a:lstStyle/>
                        <a:p>
                          <a:pPr indent="127000" algn="ctr"/>
                          <a:r>
                            <a:rPr lang="zh-CN" sz="1000" kern="0">
                              <a:effectLst/>
                              <a:latin typeface="Times New Roman" panose="02020603050405020304" pitchFamily="18" charset="0"/>
                              <a:ea typeface="宋体" panose="02010600030101010101" pitchFamily="2" charset="-122"/>
                              <a:cs typeface="Times New Roman" panose="02020603050405020304" pitchFamily="18" charset="0"/>
                            </a:rPr>
                            <a:t>小于</a:t>
                          </a:r>
                          <a:r>
                            <a:rPr lang="en-US" sz="1000" kern="0">
                              <a:effectLst/>
                              <a:latin typeface="Times New Roman" panose="02020603050405020304" pitchFamily="18" charset="0"/>
                              <a:ea typeface="等线" panose="02010600030101010101" pitchFamily="2" charset="-122"/>
                              <a:cs typeface="Times New Roman" panose="02020603050405020304" pitchFamily="18" charset="0"/>
                            </a:rPr>
                            <a:t>15,000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en-US" sz="1000" kern="0" dirty="0">
                              <a:effectLst/>
                              <a:latin typeface="Times New Roman" panose="02020603050405020304" pitchFamily="18" charset="0"/>
                              <a:ea typeface="等线" panose="02010600030101010101" pitchFamily="2" charset="-122"/>
                              <a:cs typeface="Times New Roman" panose="02020603050405020304" pitchFamily="18" charset="0"/>
                            </a:rPr>
                            <a:t>2000</a:t>
                          </a: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左右</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en-US" sz="1000" kern="0" dirty="0">
                              <a:effectLst/>
                              <a:latin typeface="Times New Roman" panose="02020603050405020304" pitchFamily="18" charset="0"/>
                              <a:ea typeface="等线" panose="02010600030101010101" pitchFamily="2" charset="-122"/>
                              <a:cs typeface="Times New Roman" panose="02020603050405020304" pitchFamily="18" charset="0"/>
                            </a:rPr>
                            <a:t>10</a:t>
                          </a: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左右</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1902500"/>
                      </a:ext>
                    </a:extLst>
                  </a:tr>
                  <a:tr h="304800">
                    <a:tc>
                      <a:txBody>
                        <a:bodyPr/>
                        <a:lstStyle/>
                        <a:p>
                          <a:pPr indent="127000" algn="ctr"/>
                          <a:r>
                            <a:rPr lang="zh-CN" sz="1000" kern="0">
                              <a:effectLst/>
                              <a:latin typeface="Times New Roman" panose="02020603050405020304" pitchFamily="18" charset="0"/>
                              <a:ea typeface="宋体" panose="02010600030101010101" pitchFamily="2" charset="-122"/>
                              <a:cs typeface="Times New Roman" panose="02020603050405020304" pitchFamily="18" charset="0"/>
                            </a:rPr>
                            <a:t>大于</a:t>
                          </a:r>
                          <a:r>
                            <a:rPr lang="en-US" sz="1000" kern="0">
                              <a:effectLst/>
                              <a:latin typeface="Times New Roman" panose="02020603050405020304" pitchFamily="18" charset="0"/>
                              <a:ea typeface="等线" panose="02010600030101010101" pitchFamily="2" charset="-122"/>
                              <a:cs typeface="Times New Roman" panose="02020603050405020304" pitchFamily="18" charset="0"/>
                            </a:rPr>
                            <a:t>15,000</a:t>
                          </a:r>
                          <a:r>
                            <a:rPr lang="zh-CN" sz="1000" kern="0">
                              <a:effectLst/>
                              <a:latin typeface="Times New Roman" panose="02020603050405020304" pitchFamily="18" charset="0"/>
                              <a:ea typeface="宋体" panose="02010600030101010101" pitchFamily="2" charset="-122"/>
                              <a:cs typeface="Times New Roman" panose="02020603050405020304" pitchFamily="18" charset="0"/>
                            </a:rPr>
                            <a:t>且小于</a:t>
                          </a:r>
                          <a:r>
                            <a:rPr lang="en-US" sz="1000" kern="0">
                              <a:effectLst/>
                              <a:latin typeface="Times New Roman" panose="02020603050405020304" pitchFamily="18" charset="0"/>
                              <a:ea typeface="等线" panose="02010600030101010101" pitchFamily="2" charset="-122"/>
                              <a:cs typeface="Times New Roman" panose="02020603050405020304" pitchFamily="18" charset="0"/>
                            </a:rPr>
                            <a:t>100,000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zh-CN" sz="1000" kern="0">
                              <a:effectLst/>
                              <a:latin typeface="Times New Roman" panose="02020603050405020304" pitchFamily="18" charset="0"/>
                              <a:ea typeface="宋体" panose="02010600030101010101" pitchFamily="2" charset="-122"/>
                              <a:cs typeface="Times New Roman" panose="02020603050405020304" pitchFamily="18" charset="0"/>
                            </a:rPr>
                            <a:t>无限制</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r>
                            <a:rPr lang="en-US" sz="1000" kern="0" dirty="0">
                              <a:effectLst/>
                              <a:latin typeface="Times New Roman" panose="02020603050405020304" pitchFamily="18" charset="0"/>
                              <a:ea typeface="等线" panose="02010600030101010101" pitchFamily="2" charset="-122"/>
                              <a:cs typeface="Times New Roman" panose="02020603050405020304" pitchFamily="18" charset="0"/>
                            </a:rPr>
                            <a:t>10</a:t>
                          </a:r>
                          <a:r>
                            <a:rPr lang="zh-CN" sz="1000" kern="0" dirty="0">
                              <a:effectLst/>
                              <a:latin typeface="Times New Roman" panose="02020603050405020304" pitchFamily="18" charset="0"/>
                              <a:ea typeface="宋体" panose="02010600030101010101" pitchFamily="2" charset="-122"/>
                              <a:cs typeface="Times New Roman" panose="02020603050405020304" pitchFamily="18" charset="0"/>
                            </a:rPr>
                            <a:t>左右</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4248" marR="6424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351837"/>
                      </a:ext>
                    </a:extLst>
                  </a:tr>
                </a:tbl>
              </a:graphicData>
            </a:graphic>
          </p:graphicFrame>
        </mc:Fallback>
      </mc:AlternateContent>
      <p:sp>
        <p:nvSpPr>
          <p:cNvPr id="11" name="文本框 10">
            <a:extLst>
              <a:ext uri="{FF2B5EF4-FFF2-40B4-BE49-F238E27FC236}">
                <a16:creationId xmlns:a16="http://schemas.microsoft.com/office/drawing/2014/main" id="{2CF14794-2571-4C95-8D16-711327131932}"/>
              </a:ext>
            </a:extLst>
          </p:cNvPr>
          <p:cNvSpPr txBox="1"/>
          <p:nvPr/>
        </p:nvSpPr>
        <p:spPr>
          <a:xfrm>
            <a:off x="94320" y="4729295"/>
            <a:ext cx="3429000" cy="253916"/>
          </a:xfrm>
          <a:prstGeom prst="rect">
            <a:avLst/>
          </a:prstGeom>
          <a:noFill/>
        </p:spPr>
        <p:txBody>
          <a:bodyPr wrap="square">
            <a:spAutoFit/>
          </a:bodyPr>
          <a:lstStyle/>
          <a:p>
            <a:pPr indent="127000" algn="ctr"/>
            <a:r>
              <a:rPr lang="zh-CN" altLang="zh-CN" sz="1050" b="1" kern="10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050" b="1" kern="100">
                <a:effectLst/>
                <a:latin typeface="Times New Roman" panose="02020603050405020304" pitchFamily="18" charset="0"/>
                <a:ea typeface="等线" panose="02010600030101010101" pitchFamily="2" charset="-122"/>
                <a:cs typeface="Times New Roman" panose="02020603050405020304" pitchFamily="18" charset="0"/>
              </a:rPr>
              <a:t>3 </a:t>
            </a:r>
            <a:r>
              <a:rPr lang="zh-CN" altLang="zh-CN" sz="1050" b="1" kern="100">
                <a:effectLst/>
                <a:latin typeface="Times New Roman" panose="02020603050405020304" pitchFamily="18" charset="0"/>
                <a:ea typeface="宋体" panose="02010600030101010101" pitchFamily="2" charset="-122"/>
                <a:cs typeface="Times New Roman" panose="02020603050405020304" pitchFamily="18" charset="0"/>
              </a:rPr>
              <a:t>诚实社区与</a:t>
            </a:r>
            <a:r>
              <a:rPr lang="en-US" altLang="zh-CN" sz="1050" b="1" kern="100">
                <a:effectLst/>
                <a:latin typeface="Times New Roman" panose="02020603050405020304" pitchFamily="18" charset="0"/>
                <a:ea typeface="等线" panose="02010600030101010101" pitchFamily="2" charset="-122"/>
                <a:cs typeface="Times New Roman" panose="02020603050405020304" pitchFamily="18" charset="0"/>
              </a:rPr>
              <a:t>Sybil</a:t>
            </a:r>
            <a:r>
              <a:rPr lang="zh-CN" altLang="zh-CN" sz="1050" b="1" kern="100">
                <a:effectLst/>
                <a:latin typeface="Times New Roman" panose="02020603050405020304" pitchFamily="18" charset="0"/>
                <a:ea typeface="宋体" panose="02010600030101010101" pitchFamily="2" charset="-122"/>
                <a:cs typeface="Times New Roman" panose="02020603050405020304" pitchFamily="18" charset="0"/>
              </a:rPr>
              <a:t>社区相对独立</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018DB4B9-B538-4903-BA06-617EE8239D17}"/>
              </a:ext>
            </a:extLst>
          </p:cNvPr>
          <p:cNvSpPr txBox="1"/>
          <p:nvPr/>
        </p:nvSpPr>
        <p:spPr>
          <a:xfrm>
            <a:off x="2996952" y="3270017"/>
            <a:ext cx="3429000" cy="253916"/>
          </a:xfrm>
          <a:prstGeom prst="rect">
            <a:avLst/>
          </a:prstGeom>
          <a:noFill/>
        </p:spPr>
        <p:txBody>
          <a:bodyPr wrap="square">
            <a:spAutoFit/>
          </a:bodyPr>
          <a:lstStyle/>
          <a:p>
            <a:pPr indent="127000" algn="ctr">
              <a:spcAft>
                <a:spcPts val="240"/>
              </a:spcAft>
            </a:pP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表</a:t>
            </a:r>
            <a:r>
              <a:rPr lang="en-US" altLang="zh-CN" sz="1050" b="1" kern="100" dirty="0">
                <a:effectLst/>
                <a:latin typeface="Times New Roman" panose="02020603050405020304" pitchFamily="18" charset="0"/>
                <a:ea typeface="等线" panose="02010600030101010101" pitchFamily="2" charset="-122"/>
                <a:cs typeface="Times New Roman" panose="02020603050405020304" pitchFamily="18" charset="0"/>
              </a:rPr>
              <a:t>1 </a:t>
            </a: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两种方法的性能比较</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0C21392E-89CA-4F4E-AE4D-B16072A5451B}"/>
              </a:ext>
            </a:extLst>
          </p:cNvPr>
          <p:cNvSpPr txBox="1"/>
          <p:nvPr/>
        </p:nvSpPr>
        <p:spPr>
          <a:xfrm>
            <a:off x="6260692" y="4536458"/>
            <a:ext cx="288032" cy="369332"/>
          </a:xfrm>
          <a:prstGeom prst="rect">
            <a:avLst/>
          </a:prstGeom>
          <a:noFill/>
        </p:spPr>
        <p:txBody>
          <a:bodyPr wrap="square" rtlCol="0">
            <a:spAutoFit/>
          </a:bodyPr>
          <a:lstStyle/>
          <a:p>
            <a:r>
              <a:rPr lang="en-US" altLang="zh-CN" dirty="0"/>
              <a:t>9</a:t>
            </a:r>
            <a:endParaRPr lang="zh-CN" altLang="en-US" dirty="0"/>
          </a:p>
        </p:txBody>
      </p:sp>
    </p:spTree>
    <p:extLst>
      <p:ext uri="{BB962C8B-B14F-4D97-AF65-F5344CB8AC3E}">
        <p14:creationId xmlns:p14="http://schemas.microsoft.com/office/powerpoint/2010/main" val="3018696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基于随机游走的女巫节点检测算法</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8251BD5E-85B5-47E8-80CD-D0CD5BDAFA0E}"/>
              </a:ext>
            </a:extLst>
          </p:cNvPr>
          <p:cNvSpPr txBox="1"/>
          <p:nvPr/>
        </p:nvSpPr>
        <p:spPr>
          <a:xfrm>
            <a:off x="548680" y="610984"/>
            <a:ext cx="3528392" cy="2154436"/>
          </a:xfrm>
          <a:prstGeom prst="rect">
            <a:avLst/>
          </a:prstGeom>
          <a:noFill/>
        </p:spPr>
        <p:txBody>
          <a:bodyPr wrap="square" rtlCol="0">
            <a:spAutoFit/>
          </a:bodyPr>
          <a:lstStyle/>
          <a:p>
            <a:pPr marL="285750" indent="-285750">
              <a:buFont typeface="Wingdings" pitchFamily="2" charset="2"/>
              <a:buChar char="n"/>
            </a:pPr>
            <a:r>
              <a:rPr lang="en-US" altLang="zh-CN" sz="2000" b="1" dirty="0" err="1"/>
              <a:t>SybilRank</a:t>
            </a:r>
            <a:endParaRPr lang="en-US" altLang="zh-CN" sz="800" kern="100" dirty="0">
              <a:effectLst/>
              <a:latin typeface="等线" panose="02010600030101010101" pitchFamily="2" charset="-122"/>
              <a:ea typeface="宋体" panose="02010600030101010101" pitchFamily="2" charset="-122"/>
              <a:cs typeface="Times New Roman" panose="02020603050405020304" pitchFamily="18" charset="0"/>
            </a:endParaRPr>
          </a:p>
          <a:p>
            <a:pPr marL="342900" indent="-342900">
              <a:buFont typeface="Wingdings" panose="05000000000000000000" pitchFamily="2" charset="2"/>
              <a:buChar char="Ø"/>
            </a:pPr>
            <a:r>
              <a:rPr lang="zh-CN" altLang="en-US" sz="1600" b="1" dirty="0"/>
              <a:t>算法基本步骤：</a:t>
            </a:r>
            <a:endParaRPr lang="en-US" altLang="zh-CN" sz="600" kern="100" dirty="0">
              <a:effectLst/>
              <a:latin typeface="等线" panose="02010600030101010101" pitchFamily="2" charset="-122"/>
              <a:ea typeface="宋体" panose="02010600030101010101" pitchFamily="2" charset="-122"/>
              <a:cs typeface="Times New Roman" panose="02020603050405020304" pitchFamily="18" charset="0"/>
            </a:endParaRPr>
          </a:p>
          <a:p>
            <a:r>
              <a:rPr kumimoji="1" lang="zh-CN" altLang="en-US" sz="1400" dirty="0"/>
              <a:t>（</a:t>
            </a:r>
            <a:r>
              <a:rPr kumimoji="1" lang="en-US" altLang="zh-CN" sz="1400" dirty="0"/>
              <a:t>1</a:t>
            </a:r>
            <a:r>
              <a:rPr kumimoji="1" lang="zh-CN" altLang="en-US" sz="1400" dirty="0"/>
              <a:t>）通过</a:t>
            </a:r>
            <a:r>
              <a:rPr kumimoji="1" lang="en-US" altLang="zh-CN" sz="1400" dirty="0"/>
              <a:t>w=O(</a:t>
            </a:r>
            <a:r>
              <a:rPr kumimoji="1" lang="en-US" altLang="zh-CN" sz="1400" dirty="0" err="1"/>
              <a:t>log⁡n</a:t>
            </a:r>
            <a:r>
              <a:rPr kumimoji="1" lang="en-US" altLang="zh-CN" sz="1400" dirty="0"/>
              <a:t>)</a:t>
            </a:r>
            <a:r>
              <a:rPr kumimoji="1" lang="zh-CN" altLang="en-US" sz="1400" dirty="0"/>
              <a:t>幂次迭代，信任概率从已知的非</a:t>
            </a:r>
            <a:r>
              <a:rPr kumimoji="1" lang="en-US" altLang="zh-CN" sz="1400" dirty="0"/>
              <a:t>Sybil</a:t>
            </a:r>
            <a:r>
              <a:rPr kumimoji="1" lang="zh-CN" altLang="en-US" sz="1400" dirty="0"/>
              <a:t>节点（信任种子）流出，在整个网络中扩展并偏向非</a:t>
            </a:r>
            <a:r>
              <a:rPr kumimoji="1" lang="en-US" altLang="zh-CN" sz="1400" dirty="0"/>
              <a:t>Sybil</a:t>
            </a:r>
            <a:r>
              <a:rPr kumimoji="1" lang="zh-CN" altLang="en-US" sz="1400" dirty="0"/>
              <a:t>区域；</a:t>
            </a:r>
          </a:p>
          <a:p>
            <a:r>
              <a:rPr kumimoji="1" lang="zh-CN" altLang="en-US" sz="1400" dirty="0"/>
              <a:t>（</a:t>
            </a:r>
            <a:r>
              <a:rPr kumimoji="1" lang="en-US" altLang="zh-CN" sz="1400" dirty="0"/>
              <a:t>2</a:t>
            </a:r>
            <a:r>
              <a:rPr kumimoji="1" lang="zh-CN" altLang="en-US" sz="1400" dirty="0"/>
              <a:t>）根据节点的程度归一化信任度对其进行排名；</a:t>
            </a:r>
          </a:p>
          <a:p>
            <a:r>
              <a:rPr kumimoji="1" lang="zh-CN" altLang="en-US" sz="1400" dirty="0"/>
              <a:t>（</a:t>
            </a:r>
            <a:r>
              <a:rPr kumimoji="1" lang="en-US" altLang="zh-CN" sz="1400" dirty="0"/>
              <a:t>3</a:t>
            </a:r>
            <a:r>
              <a:rPr kumimoji="1" lang="zh-CN" altLang="en-US" sz="1400" dirty="0"/>
              <a:t>）在排名列表中选取前几名的用户，并向全体用户公告它们被怀疑为</a:t>
            </a:r>
            <a:r>
              <a:rPr kumimoji="1" lang="en-US" altLang="zh-CN" sz="1400" dirty="0"/>
              <a:t>Sybils</a:t>
            </a:r>
            <a:r>
              <a:rPr kumimoji="1" lang="zh-CN" altLang="en-US" sz="1400" dirty="0"/>
              <a:t>账户。</a:t>
            </a:r>
          </a:p>
        </p:txBody>
      </p:sp>
      <p:pic>
        <p:nvPicPr>
          <p:cNvPr id="4" name="图片 3">
            <a:extLst>
              <a:ext uri="{FF2B5EF4-FFF2-40B4-BE49-F238E27FC236}">
                <a16:creationId xmlns:a16="http://schemas.microsoft.com/office/drawing/2014/main" id="{EB4D1595-6217-4A13-AE70-95C2A036887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05064" y="932720"/>
            <a:ext cx="2304256" cy="1512168"/>
          </a:xfrm>
          <a:prstGeom prst="rect">
            <a:avLst/>
          </a:prstGeom>
          <a:noFill/>
          <a:ln>
            <a:noFill/>
          </a:ln>
        </p:spPr>
      </p:pic>
      <p:sp>
        <p:nvSpPr>
          <p:cNvPr id="6" name="文本框 5">
            <a:extLst>
              <a:ext uri="{FF2B5EF4-FFF2-40B4-BE49-F238E27FC236}">
                <a16:creationId xmlns:a16="http://schemas.microsoft.com/office/drawing/2014/main" id="{B2A75174-EC52-4B79-8C67-CC0883D3FA62}"/>
              </a:ext>
            </a:extLst>
          </p:cNvPr>
          <p:cNvSpPr txBox="1"/>
          <p:nvPr/>
        </p:nvSpPr>
        <p:spPr>
          <a:xfrm>
            <a:off x="3429000" y="2508516"/>
            <a:ext cx="3429000" cy="253916"/>
          </a:xfrm>
          <a:prstGeom prst="rect">
            <a:avLst/>
          </a:prstGeom>
          <a:noFill/>
        </p:spPr>
        <p:txBody>
          <a:bodyPr wrap="square">
            <a:spAutoFit/>
          </a:bodyPr>
          <a:lstStyle/>
          <a:p>
            <a:pPr indent="127000" algn="ct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050" b="1" kern="100" dirty="0">
                <a:effectLst/>
                <a:latin typeface="Times New Roman" panose="02020603050405020304" pitchFamily="18" charset="0"/>
                <a:ea typeface="等线" panose="02010600030101010101" pitchFamily="2" charset="-122"/>
                <a:cs typeface="Times New Roman" panose="02020603050405020304" pitchFamily="18" charset="0"/>
              </a:rPr>
              <a:t>4 </a:t>
            </a: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信任传递模型</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F8D98971-7624-4EBF-8BE4-21066648E928}"/>
              </a:ext>
            </a:extLst>
          </p:cNvPr>
          <p:cNvSpPr txBox="1"/>
          <p:nvPr/>
        </p:nvSpPr>
        <p:spPr>
          <a:xfrm>
            <a:off x="620688" y="2826060"/>
            <a:ext cx="5688632"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b="1" dirty="0"/>
              <a:t>算法主要思想：</a:t>
            </a:r>
            <a:endParaRPr lang="en-US" altLang="zh-CN" sz="1600" b="1" dirty="0"/>
          </a:p>
          <a:p>
            <a:r>
              <a:rPr lang="zh-CN" altLang="en-US" sz="1600" dirty="0"/>
              <a:t>    在随机游走的基础上加入</a:t>
            </a:r>
            <a:r>
              <a:rPr lang="zh-CN" altLang="en-US" sz="1600" dirty="0">
                <a:solidFill>
                  <a:srgbClr val="FF0000"/>
                </a:solidFill>
              </a:rPr>
              <a:t>排序</a:t>
            </a:r>
            <a:r>
              <a:rPr lang="zh-CN" altLang="en-US" sz="1600" dirty="0"/>
              <a:t>。首先将随机游走进行</a:t>
            </a:r>
            <a:r>
              <a:rPr lang="zh-CN" altLang="en-US" sz="1600" dirty="0">
                <a:solidFill>
                  <a:srgbClr val="FF0000"/>
                </a:solidFill>
              </a:rPr>
              <a:t>幂次迭代</a:t>
            </a:r>
            <a:r>
              <a:rPr lang="zh-CN" altLang="en-US" sz="1600" dirty="0"/>
              <a:t>，把正常节点的信任值分配给其他节点，并进行标准化，最后根据标准化结果排序。</a:t>
            </a:r>
          </a:p>
        </p:txBody>
      </p:sp>
      <p:sp>
        <p:nvSpPr>
          <p:cNvPr id="8" name="文本框 7">
            <a:extLst>
              <a:ext uri="{FF2B5EF4-FFF2-40B4-BE49-F238E27FC236}">
                <a16:creationId xmlns:a16="http://schemas.microsoft.com/office/drawing/2014/main" id="{9ABCC7A9-3193-4A3E-9A5A-55B813ADC9FD}"/>
              </a:ext>
            </a:extLst>
          </p:cNvPr>
          <p:cNvSpPr txBox="1"/>
          <p:nvPr/>
        </p:nvSpPr>
        <p:spPr>
          <a:xfrm>
            <a:off x="620688" y="3903278"/>
            <a:ext cx="5688632" cy="83099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b="1" dirty="0"/>
              <a:t>算法优势：</a:t>
            </a:r>
            <a:endParaRPr lang="en-US" altLang="zh-CN" sz="1600" b="1" dirty="0"/>
          </a:p>
          <a:p>
            <a:r>
              <a:rPr lang="zh-CN" altLang="en-US" sz="1600" dirty="0"/>
              <a:t>    计算成本不会随其使用的信任种子节点数的增加而增加。这有助于</a:t>
            </a:r>
            <a:r>
              <a:rPr lang="zh-CN" altLang="en-US" sz="1600" dirty="0">
                <a:solidFill>
                  <a:srgbClr val="FF0000"/>
                </a:solidFill>
              </a:rPr>
              <a:t>使用多个种子</a:t>
            </a:r>
            <a:r>
              <a:rPr lang="zh-CN" altLang="en-US" sz="1600" dirty="0"/>
              <a:t>来提高系统对种子选择错误的鲁棒性。</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9528724-8E9D-488E-BA36-E4D24610206D}"/>
                  </a:ext>
                </a:extLst>
              </p:cNvPr>
              <p:cNvSpPr txBox="1"/>
              <p:nvPr/>
            </p:nvSpPr>
            <p:spPr>
              <a:xfrm>
                <a:off x="3465004" y="3749389"/>
                <a:ext cx="3060340" cy="307777"/>
              </a:xfrm>
              <a:prstGeom prst="rect">
                <a:avLst/>
              </a:prstGeom>
              <a:noFill/>
            </p:spPr>
            <p:txBody>
              <a:bodyPr wrap="square">
                <a:spAutoFit/>
              </a:bodyPr>
              <a:lstStyle/>
              <a:p>
                <a14:m>
                  <m:oMath xmlns:m="http://schemas.openxmlformats.org/officeDocument/2006/math">
                    <m:d>
                      <m:dPr>
                        <m:begChr m:val=""/>
                        <m:ctrlPr>
                          <a:rPr lang="zh-CN" altLang="en-US" sz="1400" i="1" smtClean="0">
                            <a:latin typeface="Cambria Math" panose="02040503050406030204" pitchFamily="18" charset="0"/>
                          </a:rPr>
                        </m:ctrlPr>
                      </m:dPr>
                      <m:e>
                        <m:r>
                          <a:rPr lang="zh-CN" altLang="en-US" sz="1400" i="1">
                            <a:latin typeface="Cambria Math" panose="02040503050406030204" pitchFamily="18" charset="0"/>
                          </a:rPr>
                          <m:t>𝑂</m:t>
                        </m:r>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n</m:t>
                            </m:r>
                            <m:r>
                              <a:rPr lang="zh-CN" altLang="en-US" sz="1400" i="0">
                                <a:latin typeface="Cambria Math" panose="02040503050406030204" pitchFamily="18" charset="0"/>
                              </a:rPr>
                              <m:t> </m:t>
                            </m:r>
                            <m:r>
                              <m:rPr>
                                <m:sty m:val="p"/>
                              </m:rPr>
                              <a:rPr lang="zh-CN" altLang="en-US" sz="1400" i="0">
                                <a:latin typeface="Cambria Math" panose="02040503050406030204" pitchFamily="18" charset="0"/>
                              </a:rPr>
                              <m:t>log</m:t>
                            </m:r>
                          </m:fName>
                          <m:e>
                            <m:r>
                              <a:rPr lang="zh-CN" altLang="en-US" sz="1400" i="1">
                                <a:latin typeface="Cambria Math" panose="02040503050406030204" pitchFamily="18" charset="0"/>
                              </a:rPr>
                              <m:t>𝑛</m:t>
                            </m:r>
                          </m:e>
                        </m:func>
                      </m:e>
                    </m:d>
                  </m:oMath>
                </a14:m>
                <a:r>
                  <a:rPr lang="en-US" altLang="zh-CN" sz="1400" dirty="0"/>
                  <a:t>——</a:t>
                </a:r>
                <a:r>
                  <a:rPr lang="zh-CN" altLang="en-US" sz="1400" dirty="0"/>
                  <a:t>比前两种略高</a:t>
                </a:r>
                <a:endParaRPr lang="zh-CN" altLang="en-US" dirty="0"/>
              </a:p>
            </p:txBody>
          </p:sp>
        </mc:Choice>
        <mc:Fallback xmlns="">
          <p:sp>
            <p:nvSpPr>
              <p:cNvPr id="10" name="文本框 9">
                <a:extLst>
                  <a:ext uri="{FF2B5EF4-FFF2-40B4-BE49-F238E27FC236}">
                    <a16:creationId xmlns:a16="http://schemas.microsoft.com/office/drawing/2014/main" id="{09528724-8E9D-488E-BA36-E4D24610206D}"/>
                  </a:ext>
                </a:extLst>
              </p:cNvPr>
              <p:cNvSpPr txBox="1">
                <a:spLocks noRot="1" noChangeAspect="1" noMove="1" noResize="1" noEditPoints="1" noAdjustHandles="1" noChangeArrowheads="1" noChangeShapeType="1" noTextEdit="1"/>
              </p:cNvSpPr>
              <p:nvPr/>
            </p:nvSpPr>
            <p:spPr>
              <a:xfrm>
                <a:off x="3465004" y="3749389"/>
                <a:ext cx="3060340" cy="307777"/>
              </a:xfrm>
              <a:prstGeom prst="rect">
                <a:avLst/>
              </a:prstGeom>
              <a:blipFill>
                <a:blip r:embed="rId3"/>
                <a:stretch>
                  <a:fillRect t="-98039" b="-160784"/>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4DDE746-F4EA-4A3D-981A-5037F8A32A68}"/>
              </a:ext>
            </a:extLst>
          </p:cNvPr>
          <p:cNvSpPr txBox="1"/>
          <p:nvPr/>
        </p:nvSpPr>
        <p:spPr>
          <a:xfrm>
            <a:off x="6260692" y="4536458"/>
            <a:ext cx="624692" cy="369332"/>
          </a:xfrm>
          <a:prstGeom prst="rect">
            <a:avLst/>
          </a:prstGeom>
          <a:noFill/>
        </p:spPr>
        <p:txBody>
          <a:bodyPr wrap="square" rtlCol="0">
            <a:spAutoFit/>
          </a:bodyPr>
          <a:lstStyle/>
          <a:p>
            <a:r>
              <a:rPr lang="en-US" altLang="zh-CN" dirty="0"/>
              <a:t>10</a:t>
            </a:r>
            <a:endParaRPr lang="zh-CN" altLang="en-US" dirty="0"/>
          </a:p>
        </p:txBody>
      </p:sp>
    </p:spTree>
    <p:extLst>
      <p:ext uri="{BB962C8B-B14F-4D97-AF65-F5344CB8AC3E}">
        <p14:creationId xmlns:p14="http://schemas.microsoft.com/office/powerpoint/2010/main" val="4271543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针对不同类型网络的实验验证</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B34F7B04-522E-43DA-960F-EA1816D2F0FE}"/>
              </a:ext>
            </a:extLst>
          </p:cNvPr>
          <p:cNvSpPr txBox="1"/>
          <p:nvPr/>
        </p:nvSpPr>
        <p:spPr>
          <a:xfrm>
            <a:off x="548680" y="610984"/>
            <a:ext cx="5688632" cy="1138773"/>
          </a:xfrm>
          <a:prstGeom prst="rect">
            <a:avLst/>
          </a:prstGeom>
          <a:noFill/>
        </p:spPr>
        <p:txBody>
          <a:bodyPr wrap="square" rtlCol="0">
            <a:spAutoFit/>
          </a:bodyPr>
          <a:lstStyle/>
          <a:p>
            <a:pPr marL="285750" indent="-285750">
              <a:buFont typeface="Wingdings" pitchFamily="2" charset="2"/>
              <a:buChar char="n"/>
            </a:pPr>
            <a:r>
              <a:rPr lang="zh-CN" altLang="en-US" sz="2000" b="1" dirty="0"/>
              <a:t>使用的网络简介</a:t>
            </a:r>
            <a:endParaRPr lang="en-US" altLang="zh-CN" sz="800" kern="100" dirty="0">
              <a:effectLst/>
              <a:latin typeface="等线" panose="02010600030101010101" pitchFamily="2" charset="-122"/>
              <a:ea typeface="宋体" panose="02010600030101010101" pitchFamily="2" charset="-122"/>
              <a:cs typeface="Times New Roman" panose="02020603050405020304" pitchFamily="18" charset="0"/>
            </a:endParaRPr>
          </a:p>
          <a:p>
            <a:r>
              <a:rPr kumimoji="1" lang="zh-CN" altLang="en-US" sz="1600" dirty="0"/>
              <a:t>我们使用</a:t>
            </a:r>
            <a:r>
              <a:rPr kumimoji="1" lang="en-US" altLang="zh-CN" sz="1600" dirty="0"/>
              <a:t>Network Repository </a:t>
            </a:r>
            <a:r>
              <a:rPr kumimoji="1" lang="zh-CN" altLang="en-US" sz="1600" dirty="0"/>
              <a:t>网站上面的开源网络数据集进行测试，使用</a:t>
            </a:r>
            <a:r>
              <a:rPr kumimoji="1" lang="en-US" altLang="zh-CN" sz="1600" dirty="0"/>
              <a:t>Facebook</a:t>
            </a:r>
            <a:r>
              <a:rPr kumimoji="1" lang="zh-CN" altLang="en-US" sz="1600" dirty="0"/>
              <a:t>上面的三个真实网络图谱数据</a:t>
            </a:r>
            <a:r>
              <a:rPr kumimoji="1" lang="en-US" altLang="zh-CN" sz="1600" dirty="0"/>
              <a:t>Caltech36</a:t>
            </a:r>
            <a:r>
              <a:rPr kumimoji="1" lang="zh-CN" altLang="en-US" sz="1600" dirty="0"/>
              <a:t>、</a:t>
            </a:r>
            <a:r>
              <a:rPr kumimoji="1" lang="en-US" altLang="zh-CN" sz="1600" dirty="0"/>
              <a:t>Reed98</a:t>
            </a:r>
            <a:r>
              <a:rPr kumimoji="1" lang="zh-CN" altLang="en-US" sz="1600" dirty="0"/>
              <a:t>和</a:t>
            </a:r>
            <a:r>
              <a:rPr kumimoji="1" lang="en-US" altLang="zh-CN" sz="1600" dirty="0"/>
              <a:t>American75</a:t>
            </a:r>
            <a:r>
              <a:rPr kumimoji="1" lang="zh-CN" altLang="en-US" sz="1600" dirty="0"/>
              <a:t>进行了测试。</a:t>
            </a:r>
            <a:endParaRPr kumimoji="1" lang="en-US" altLang="zh-CN" sz="1600" dirty="0"/>
          </a:p>
        </p:txBody>
      </p:sp>
      <p:pic>
        <p:nvPicPr>
          <p:cNvPr id="4" name="图片 3">
            <a:extLst>
              <a:ext uri="{FF2B5EF4-FFF2-40B4-BE49-F238E27FC236}">
                <a16:creationId xmlns:a16="http://schemas.microsoft.com/office/drawing/2014/main" id="{AC4474C8-111E-4C15-BF19-25C05420E423}"/>
              </a:ext>
            </a:extLst>
          </p:cNvPr>
          <p:cNvPicPr>
            <a:picLocks noChangeAspect="1"/>
          </p:cNvPicPr>
          <p:nvPr/>
        </p:nvPicPr>
        <p:blipFill>
          <a:blip r:embed="rId2"/>
          <a:stretch>
            <a:fillRect/>
          </a:stretch>
        </p:blipFill>
        <p:spPr>
          <a:xfrm>
            <a:off x="620688" y="2165255"/>
            <a:ext cx="1584176" cy="1745578"/>
          </a:xfrm>
          <a:prstGeom prst="rect">
            <a:avLst/>
          </a:prstGeom>
        </p:spPr>
      </p:pic>
      <p:pic>
        <p:nvPicPr>
          <p:cNvPr id="5" name="图片 4">
            <a:extLst>
              <a:ext uri="{FF2B5EF4-FFF2-40B4-BE49-F238E27FC236}">
                <a16:creationId xmlns:a16="http://schemas.microsoft.com/office/drawing/2014/main" id="{D37BF4AC-70E5-4DCA-92B8-7ED02038DF2F}"/>
              </a:ext>
            </a:extLst>
          </p:cNvPr>
          <p:cNvPicPr>
            <a:picLocks noChangeAspect="1"/>
          </p:cNvPicPr>
          <p:nvPr/>
        </p:nvPicPr>
        <p:blipFill>
          <a:blip r:embed="rId3"/>
          <a:stretch>
            <a:fillRect/>
          </a:stretch>
        </p:blipFill>
        <p:spPr>
          <a:xfrm>
            <a:off x="2394407" y="2168987"/>
            <a:ext cx="1797232" cy="1741846"/>
          </a:xfrm>
          <a:prstGeom prst="rect">
            <a:avLst/>
          </a:prstGeom>
        </p:spPr>
      </p:pic>
      <p:pic>
        <p:nvPicPr>
          <p:cNvPr id="6" name="图片 5">
            <a:extLst>
              <a:ext uri="{FF2B5EF4-FFF2-40B4-BE49-F238E27FC236}">
                <a16:creationId xmlns:a16="http://schemas.microsoft.com/office/drawing/2014/main" id="{6C6A8E1C-C9DB-4710-AC38-20398116FFE7}"/>
              </a:ext>
            </a:extLst>
          </p:cNvPr>
          <p:cNvPicPr>
            <a:picLocks noChangeAspect="1"/>
          </p:cNvPicPr>
          <p:nvPr/>
        </p:nvPicPr>
        <p:blipFill>
          <a:blip r:embed="rId4"/>
          <a:stretch>
            <a:fillRect/>
          </a:stretch>
        </p:blipFill>
        <p:spPr>
          <a:xfrm>
            <a:off x="4381182" y="2165255"/>
            <a:ext cx="1713695" cy="1741846"/>
          </a:xfrm>
          <a:prstGeom prst="rect">
            <a:avLst/>
          </a:prstGeom>
        </p:spPr>
      </p:pic>
      <p:sp>
        <p:nvSpPr>
          <p:cNvPr id="8" name="文本框 7">
            <a:extLst>
              <a:ext uri="{FF2B5EF4-FFF2-40B4-BE49-F238E27FC236}">
                <a16:creationId xmlns:a16="http://schemas.microsoft.com/office/drawing/2014/main" id="{942964AA-74EF-4219-B4AA-91CA532ACF42}"/>
              </a:ext>
            </a:extLst>
          </p:cNvPr>
          <p:cNvSpPr txBox="1"/>
          <p:nvPr/>
        </p:nvSpPr>
        <p:spPr>
          <a:xfrm>
            <a:off x="548680" y="1745524"/>
            <a:ext cx="3429000" cy="369332"/>
          </a:xfrm>
          <a:prstGeom prst="rect">
            <a:avLst/>
          </a:prstGeom>
          <a:noFill/>
        </p:spPr>
        <p:txBody>
          <a:bodyPr wrap="square">
            <a:spAutoFit/>
          </a:bodyPr>
          <a:lstStyle/>
          <a:p>
            <a:pPr marL="285750" indent="-285750">
              <a:buFont typeface="Wingdings" panose="05000000000000000000" pitchFamily="2" charset="2"/>
              <a:buChar char="Ø"/>
            </a:pPr>
            <a:r>
              <a:rPr kumimoji="1" lang="zh-CN" altLang="en-US" sz="1800" b="1" dirty="0"/>
              <a:t>网络拓扑图：</a:t>
            </a:r>
          </a:p>
        </p:txBody>
      </p:sp>
      <p:sp>
        <p:nvSpPr>
          <p:cNvPr id="12" name="文本框 11">
            <a:extLst>
              <a:ext uri="{FF2B5EF4-FFF2-40B4-BE49-F238E27FC236}">
                <a16:creationId xmlns:a16="http://schemas.microsoft.com/office/drawing/2014/main" id="{A934DE8C-D702-4505-AD86-514C495FEC6A}"/>
              </a:ext>
            </a:extLst>
          </p:cNvPr>
          <p:cNvSpPr txBox="1"/>
          <p:nvPr/>
        </p:nvSpPr>
        <p:spPr>
          <a:xfrm>
            <a:off x="908720" y="3908174"/>
            <a:ext cx="5386908" cy="307777"/>
          </a:xfrm>
          <a:prstGeom prst="rect">
            <a:avLst/>
          </a:prstGeom>
          <a:noFill/>
        </p:spPr>
        <p:txBody>
          <a:bodyPr wrap="square">
            <a:spAutoFit/>
          </a:bodyPr>
          <a:lstStyle/>
          <a:p>
            <a:r>
              <a:rPr lang="en-US" altLang="zh-CN" sz="1400" dirty="0"/>
              <a:t>Caltech36                        Reed98                        American75</a:t>
            </a:r>
            <a:endParaRPr lang="zh-CN" altLang="en-US" sz="1400" dirty="0"/>
          </a:p>
        </p:txBody>
      </p:sp>
      <p:sp>
        <p:nvSpPr>
          <p:cNvPr id="14" name="文本框 13">
            <a:extLst>
              <a:ext uri="{FF2B5EF4-FFF2-40B4-BE49-F238E27FC236}">
                <a16:creationId xmlns:a16="http://schemas.microsoft.com/office/drawing/2014/main" id="{4B56DD6A-FA92-4FFA-A4C1-11ECCEF3EDCC}"/>
              </a:ext>
            </a:extLst>
          </p:cNvPr>
          <p:cNvSpPr txBox="1"/>
          <p:nvPr/>
        </p:nvSpPr>
        <p:spPr>
          <a:xfrm>
            <a:off x="728700" y="4210012"/>
            <a:ext cx="1368152" cy="523220"/>
          </a:xfrm>
          <a:prstGeom prst="rect">
            <a:avLst/>
          </a:prstGeom>
          <a:noFill/>
        </p:spPr>
        <p:txBody>
          <a:bodyPr wrap="square">
            <a:spAutoFit/>
          </a:bodyPr>
          <a:lstStyle/>
          <a:p>
            <a:pPr marL="0" marR="0" indent="127000" algn="just">
              <a:spcBef>
                <a:spcPts val="0"/>
              </a:spcBef>
              <a:spcAft>
                <a:spcPts val="0"/>
              </a:spcAft>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769 nodes</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a:p>
            <a:pPr marL="0" marR="0" indent="127000" algn="just">
              <a:spcBef>
                <a:spcPts val="0"/>
              </a:spcBef>
              <a:spcAft>
                <a:spcPts val="0"/>
              </a:spcAft>
            </a:pPr>
            <a:r>
              <a:rPr lang="en-US" altLang="zh-CN" sz="1400" kern="100" dirty="0">
                <a:effectLst/>
                <a:latin typeface="等线" panose="02010600030101010101" pitchFamily="2" charset="-122"/>
                <a:ea typeface="等线" panose="02010600030101010101" pitchFamily="2" charset="-122"/>
                <a:cs typeface="Times New Roman" panose="02020603050405020304" pitchFamily="18" charset="0"/>
              </a:rPr>
              <a:t>16.7k </a:t>
            </a: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edges</a:t>
            </a:r>
            <a:endPar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76B289B4-DEE1-4472-97D5-BE8101F11F44}"/>
              </a:ext>
            </a:extLst>
          </p:cNvPr>
          <p:cNvSpPr txBox="1"/>
          <p:nvPr/>
        </p:nvSpPr>
        <p:spPr>
          <a:xfrm>
            <a:off x="2608947" y="4210012"/>
            <a:ext cx="1368152" cy="523220"/>
          </a:xfrm>
          <a:prstGeom prst="rect">
            <a:avLst/>
          </a:prstGeom>
          <a:noFill/>
        </p:spPr>
        <p:txBody>
          <a:bodyPr wrap="square">
            <a:spAutoFit/>
          </a:bodyPr>
          <a:lstStyle/>
          <a:p>
            <a:pPr marL="0" marR="0" indent="127000" algn="just">
              <a:spcBef>
                <a:spcPts val="0"/>
              </a:spcBef>
              <a:spcAft>
                <a:spcPts val="0"/>
              </a:spcAft>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962 nodes</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a:p>
            <a:pPr marL="0" marR="0" indent="127000" algn="just">
              <a:spcBef>
                <a:spcPts val="0"/>
              </a:spcBef>
              <a:spcAft>
                <a:spcPts val="0"/>
              </a:spcAft>
            </a:pPr>
            <a:r>
              <a:rPr lang="en-US" altLang="zh-CN" sz="1400" kern="100" dirty="0">
                <a:effectLst/>
                <a:latin typeface="等线" panose="02010600030101010101" pitchFamily="2" charset="-122"/>
                <a:ea typeface="等线" panose="02010600030101010101" pitchFamily="2" charset="-122"/>
                <a:cs typeface="Times New Roman" panose="02020603050405020304" pitchFamily="18" charset="0"/>
              </a:rPr>
              <a:t>18.8k </a:t>
            </a: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edges</a:t>
            </a:r>
            <a:endPar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15">
            <a:extLst>
              <a:ext uri="{FF2B5EF4-FFF2-40B4-BE49-F238E27FC236}">
                <a16:creationId xmlns:a16="http://schemas.microsoft.com/office/drawing/2014/main" id="{E2F04F44-7310-4BEA-AC14-F0C49727253E}"/>
              </a:ext>
            </a:extLst>
          </p:cNvPr>
          <p:cNvSpPr txBox="1"/>
          <p:nvPr/>
        </p:nvSpPr>
        <p:spPr>
          <a:xfrm>
            <a:off x="4540365" y="4210012"/>
            <a:ext cx="1395327" cy="523220"/>
          </a:xfrm>
          <a:prstGeom prst="rect">
            <a:avLst/>
          </a:prstGeom>
          <a:noFill/>
        </p:spPr>
        <p:txBody>
          <a:bodyPr wrap="square">
            <a:spAutoFit/>
          </a:bodyPr>
          <a:lstStyle/>
          <a:p>
            <a:pPr marL="0" marR="0" indent="127000" algn="just">
              <a:spcBef>
                <a:spcPts val="0"/>
              </a:spcBef>
              <a:spcAft>
                <a:spcPts val="0"/>
              </a:spcAft>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6.4k nodes</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a:p>
            <a:pPr marL="0" marR="0" indent="127000" algn="just">
              <a:spcBef>
                <a:spcPts val="0"/>
              </a:spcBef>
              <a:spcAft>
                <a:spcPts val="0"/>
              </a:spcAft>
            </a:pPr>
            <a:r>
              <a:rPr lang="en-US" altLang="zh-CN" sz="1400" kern="100" dirty="0">
                <a:effectLst/>
                <a:latin typeface="等线" panose="02010600030101010101" pitchFamily="2" charset="-122"/>
                <a:ea typeface="等线" panose="02010600030101010101" pitchFamily="2" charset="-122"/>
                <a:cs typeface="Times New Roman" panose="02020603050405020304" pitchFamily="18" charset="0"/>
              </a:rPr>
              <a:t>217.7k </a:t>
            </a: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edges</a:t>
            </a:r>
            <a:endPar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C1203337-CBD0-4BC2-9FFB-1010B48EEF2A}"/>
              </a:ext>
            </a:extLst>
          </p:cNvPr>
          <p:cNvSpPr txBox="1"/>
          <p:nvPr/>
        </p:nvSpPr>
        <p:spPr>
          <a:xfrm>
            <a:off x="6260692" y="4536458"/>
            <a:ext cx="624692" cy="369332"/>
          </a:xfrm>
          <a:prstGeom prst="rect">
            <a:avLst/>
          </a:prstGeom>
          <a:noFill/>
        </p:spPr>
        <p:txBody>
          <a:bodyPr wrap="square" rtlCol="0">
            <a:spAutoFit/>
          </a:bodyPr>
          <a:lstStyle/>
          <a:p>
            <a:r>
              <a:rPr lang="en-US" altLang="zh-CN" dirty="0"/>
              <a:t>11</a:t>
            </a:r>
            <a:endParaRPr lang="zh-CN" altLang="en-US" dirty="0"/>
          </a:p>
        </p:txBody>
      </p:sp>
    </p:spTree>
    <p:extLst>
      <p:ext uri="{BB962C8B-B14F-4D97-AF65-F5344CB8AC3E}">
        <p14:creationId xmlns:p14="http://schemas.microsoft.com/office/powerpoint/2010/main" val="2744241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针对不同类型网络的实验验证</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B34F7B04-522E-43DA-960F-EA1816D2F0FE}"/>
              </a:ext>
            </a:extLst>
          </p:cNvPr>
          <p:cNvSpPr txBox="1"/>
          <p:nvPr/>
        </p:nvSpPr>
        <p:spPr>
          <a:xfrm>
            <a:off x="548680" y="610984"/>
            <a:ext cx="5688632" cy="1138773"/>
          </a:xfrm>
          <a:prstGeom prst="rect">
            <a:avLst/>
          </a:prstGeom>
          <a:noFill/>
        </p:spPr>
        <p:txBody>
          <a:bodyPr wrap="square" rtlCol="0">
            <a:spAutoFit/>
          </a:bodyPr>
          <a:lstStyle/>
          <a:p>
            <a:pPr marL="285750" indent="-285750">
              <a:buFont typeface="Wingdings" pitchFamily="2" charset="2"/>
              <a:buChar char="n"/>
            </a:pPr>
            <a:r>
              <a:rPr lang="zh-CN" altLang="en-US" sz="2000" b="1" dirty="0"/>
              <a:t>使用的网络简介</a:t>
            </a:r>
            <a:endParaRPr lang="en-US" altLang="zh-CN" sz="800" kern="100" dirty="0">
              <a:effectLst/>
              <a:latin typeface="等线" panose="02010600030101010101" pitchFamily="2" charset="-122"/>
              <a:ea typeface="宋体" panose="02010600030101010101" pitchFamily="2" charset="-122"/>
              <a:cs typeface="Times New Roman" panose="02020603050405020304" pitchFamily="18" charset="0"/>
            </a:endParaRPr>
          </a:p>
          <a:p>
            <a:r>
              <a:rPr kumimoji="1" lang="zh-CN" altLang="en-US" sz="1600" dirty="0"/>
              <a:t>我们使用</a:t>
            </a:r>
            <a:r>
              <a:rPr kumimoji="1" lang="en-US" altLang="zh-CN" sz="1600" dirty="0"/>
              <a:t>Network Repository </a:t>
            </a:r>
            <a:r>
              <a:rPr kumimoji="1" lang="zh-CN" altLang="en-US" sz="1600" dirty="0"/>
              <a:t>网站上面的开源网络数据集进行测试，使用</a:t>
            </a:r>
            <a:r>
              <a:rPr kumimoji="1" lang="en-US" altLang="zh-CN" sz="1600" dirty="0"/>
              <a:t>Facebook</a:t>
            </a:r>
            <a:r>
              <a:rPr kumimoji="1" lang="zh-CN" altLang="en-US" sz="1600" dirty="0"/>
              <a:t>上面的三个真实网络图谱数据</a:t>
            </a:r>
            <a:r>
              <a:rPr kumimoji="1" lang="en-US" altLang="zh-CN" sz="1600" dirty="0"/>
              <a:t>Caltech36</a:t>
            </a:r>
            <a:r>
              <a:rPr kumimoji="1" lang="zh-CN" altLang="en-US" sz="1600" dirty="0"/>
              <a:t>、</a:t>
            </a:r>
            <a:r>
              <a:rPr kumimoji="1" lang="en-US" altLang="zh-CN" sz="1600" dirty="0"/>
              <a:t>Reed98</a:t>
            </a:r>
            <a:r>
              <a:rPr kumimoji="1" lang="zh-CN" altLang="en-US" sz="1600" dirty="0"/>
              <a:t>和</a:t>
            </a:r>
            <a:r>
              <a:rPr kumimoji="1" lang="en-US" altLang="zh-CN" sz="1600" dirty="0"/>
              <a:t>American75</a:t>
            </a:r>
            <a:r>
              <a:rPr kumimoji="1" lang="zh-CN" altLang="en-US" sz="1600" dirty="0"/>
              <a:t>进行了测试。</a:t>
            </a:r>
            <a:endParaRPr kumimoji="1" lang="en-US" altLang="zh-CN" sz="1600" dirty="0"/>
          </a:p>
        </p:txBody>
      </p:sp>
      <p:pic>
        <p:nvPicPr>
          <p:cNvPr id="4" name="图片 3">
            <a:extLst>
              <a:ext uri="{FF2B5EF4-FFF2-40B4-BE49-F238E27FC236}">
                <a16:creationId xmlns:a16="http://schemas.microsoft.com/office/drawing/2014/main" id="{AC4474C8-111E-4C15-BF19-25C05420E423}"/>
              </a:ext>
            </a:extLst>
          </p:cNvPr>
          <p:cNvPicPr>
            <a:picLocks noChangeAspect="1"/>
          </p:cNvPicPr>
          <p:nvPr/>
        </p:nvPicPr>
        <p:blipFill>
          <a:blip r:embed="rId2"/>
          <a:stretch>
            <a:fillRect/>
          </a:stretch>
        </p:blipFill>
        <p:spPr>
          <a:xfrm>
            <a:off x="620688" y="2165255"/>
            <a:ext cx="1584176" cy="1745578"/>
          </a:xfrm>
          <a:prstGeom prst="rect">
            <a:avLst/>
          </a:prstGeom>
        </p:spPr>
      </p:pic>
      <p:pic>
        <p:nvPicPr>
          <p:cNvPr id="5" name="图片 4">
            <a:extLst>
              <a:ext uri="{FF2B5EF4-FFF2-40B4-BE49-F238E27FC236}">
                <a16:creationId xmlns:a16="http://schemas.microsoft.com/office/drawing/2014/main" id="{D37BF4AC-70E5-4DCA-92B8-7ED02038DF2F}"/>
              </a:ext>
            </a:extLst>
          </p:cNvPr>
          <p:cNvPicPr>
            <a:picLocks noChangeAspect="1"/>
          </p:cNvPicPr>
          <p:nvPr/>
        </p:nvPicPr>
        <p:blipFill>
          <a:blip r:embed="rId3"/>
          <a:stretch>
            <a:fillRect/>
          </a:stretch>
        </p:blipFill>
        <p:spPr>
          <a:xfrm>
            <a:off x="2394407" y="2168987"/>
            <a:ext cx="1797232" cy="1741846"/>
          </a:xfrm>
          <a:prstGeom prst="rect">
            <a:avLst/>
          </a:prstGeom>
        </p:spPr>
      </p:pic>
      <p:pic>
        <p:nvPicPr>
          <p:cNvPr id="6" name="图片 5">
            <a:extLst>
              <a:ext uri="{FF2B5EF4-FFF2-40B4-BE49-F238E27FC236}">
                <a16:creationId xmlns:a16="http://schemas.microsoft.com/office/drawing/2014/main" id="{6C6A8E1C-C9DB-4710-AC38-20398116FFE7}"/>
              </a:ext>
            </a:extLst>
          </p:cNvPr>
          <p:cNvPicPr>
            <a:picLocks noChangeAspect="1"/>
          </p:cNvPicPr>
          <p:nvPr/>
        </p:nvPicPr>
        <p:blipFill>
          <a:blip r:embed="rId4"/>
          <a:stretch>
            <a:fillRect/>
          </a:stretch>
        </p:blipFill>
        <p:spPr>
          <a:xfrm>
            <a:off x="4381182" y="2165255"/>
            <a:ext cx="1713695" cy="1741846"/>
          </a:xfrm>
          <a:prstGeom prst="rect">
            <a:avLst/>
          </a:prstGeom>
        </p:spPr>
      </p:pic>
      <p:sp>
        <p:nvSpPr>
          <p:cNvPr id="8" name="文本框 7">
            <a:extLst>
              <a:ext uri="{FF2B5EF4-FFF2-40B4-BE49-F238E27FC236}">
                <a16:creationId xmlns:a16="http://schemas.microsoft.com/office/drawing/2014/main" id="{942964AA-74EF-4219-B4AA-91CA532ACF42}"/>
              </a:ext>
            </a:extLst>
          </p:cNvPr>
          <p:cNvSpPr txBox="1"/>
          <p:nvPr/>
        </p:nvSpPr>
        <p:spPr>
          <a:xfrm>
            <a:off x="548680" y="1745524"/>
            <a:ext cx="3429000" cy="369332"/>
          </a:xfrm>
          <a:prstGeom prst="rect">
            <a:avLst/>
          </a:prstGeom>
          <a:noFill/>
        </p:spPr>
        <p:txBody>
          <a:bodyPr wrap="square">
            <a:spAutoFit/>
          </a:bodyPr>
          <a:lstStyle/>
          <a:p>
            <a:pPr marL="285750" indent="-285750">
              <a:buFont typeface="Wingdings" panose="05000000000000000000" pitchFamily="2" charset="2"/>
              <a:buChar char="Ø"/>
            </a:pPr>
            <a:r>
              <a:rPr kumimoji="1" lang="zh-CN" altLang="en-US" sz="1800" b="1" dirty="0"/>
              <a:t>网络拓扑图：</a:t>
            </a:r>
          </a:p>
        </p:txBody>
      </p:sp>
      <p:sp>
        <p:nvSpPr>
          <p:cNvPr id="12" name="文本框 11">
            <a:extLst>
              <a:ext uri="{FF2B5EF4-FFF2-40B4-BE49-F238E27FC236}">
                <a16:creationId xmlns:a16="http://schemas.microsoft.com/office/drawing/2014/main" id="{A934DE8C-D702-4505-AD86-514C495FEC6A}"/>
              </a:ext>
            </a:extLst>
          </p:cNvPr>
          <p:cNvSpPr txBox="1"/>
          <p:nvPr/>
        </p:nvSpPr>
        <p:spPr>
          <a:xfrm>
            <a:off x="908720" y="3908174"/>
            <a:ext cx="5386908" cy="307777"/>
          </a:xfrm>
          <a:prstGeom prst="rect">
            <a:avLst/>
          </a:prstGeom>
          <a:noFill/>
        </p:spPr>
        <p:txBody>
          <a:bodyPr wrap="square">
            <a:spAutoFit/>
          </a:bodyPr>
          <a:lstStyle/>
          <a:p>
            <a:r>
              <a:rPr lang="en-US" altLang="zh-CN" sz="1400" dirty="0"/>
              <a:t>Caltech36                        Reed98                        American75</a:t>
            </a:r>
            <a:endParaRPr lang="zh-CN" altLang="en-US" sz="1400" dirty="0"/>
          </a:p>
        </p:txBody>
      </p:sp>
      <p:sp>
        <p:nvSpPr>
          <p:cNvPr id="14" name="文本框 13">
            <a:extLst>
              <a:ext uri="{FF2B5EF4-FFF2-40B4-BE49-F238E27FC236}">
                <a16:creationId xmlns:a16="http://schemas.microsoft.com/office/drawing/2014/main" id="{4B56DD6A-FA92-4FFA-A4C1-11ECCEF3EDCC}"/>
              </a:ext>
            </a:extLst>
          </p:cNvPr>
          <p:cNvSpPr txBox="1"/>
          <p:nvPr/>
        </p:nvSpPr>
        <p:spPr>
          <a:xfrm>
            <a:off x="943142" y="4196863"/>
            <a:ext cx="939267" cy="307777"/>
          </a:xfrm>
          <a:prstGeom prst="rect">
            <a:avLst/>
          </a:prstGeom>
          <a:noFill/>
        </p:spPr>
        <p:txBody>
          <a:bodyPr wrap="square">
            <a:spAutoFit/>
          </a:bodyPr>
          <a:lstStyle/>
          <a:p>
            <a:pPr marL="0" marR="0" indent="127000" algn="just">
              <a:spcBef>
                <a:spcPts val="0"/>
              </a:spcBef>
              <a:spcAft>
                <a:spcPts val="0"/>
              </a:spcAft>
            </a:pPr>
            <a:r>
              <a:rPr lang="zh-CN" altLang="en-US" sz="1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中心化</a:t>
            </a:r>
          </a:p>
        </p:txBody>
      </p:sp>
      <p:sp>
        <p:nvSpPr>
          <p:cNvPr id="15" name="文本框 14">
            <a:extLst>
              <a:ext uri="{FF2B5EF4-FFF2-40B4-BE49-F238E27FC236}">
                <a16:creationId xmlns:a16="http://schemas.microsoft.com/office/drawing/2014/main" id="{76B289B4-DEE1-4472-97D5-BE8101F11F44}"/>
              </a:ext>
            </a:extLst>
          </p:cNvPr>
          <p:cNvSpPr txBox="1"/>
          <p:nvPr/>
        </p:nvSpPr>
        <p:spPr>
          <a:xfrm>
            <a:off x="2823389" y="4198143"/>
            <a:ext cx="939267" cy="307777"/>
          </a:xfrm>
          <a:prstGeom prst="rect">
            <a:avLst/>
          </a:prstGeom>
          <a:noFill/>
        </p:spPr>
        <p:txBody>
          <a:bodyPr wrap="square">
            <a:spAutoFit/>
          </a:bodyPr>
          <a:lstStyle/>
          <a:p>
            <a:pPr marL="0" marR="0" indent="127000" algn="just">
              <a:spcBef>
                <a:spcPts val="0"/>
              </a:spcBef>
              <a:spcAft>
                <a:spcPts val="0"/>
              </a:spcAft>
            </a:pPr>
            <a:r>
              <a:rPr lang="zh-CN" altLang="en-US" sz="14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多中心</a:t>
            </a:r>
            <a:endParaRPr lang="zh-CN" altLang="en-US" sz="1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15">
            <a:extLst>
              <a:ext uri="{FF2B5EF4-FFF2-40B4-BE49-F238E27FC236}">
                <a16:creationId xmlns:a16="http://schemas.microsoft.com/office/drawing/2014/main" id="{E2F04F44-7310-4BEA-AC14-F0C49727253E}"/>
              </a:ext>
            </a:extLst>
          </p:cNvPr>
          <p:cNvSpPr txBox="1"/>
          <p:nvPr/>
        </p:nvSpPr>
        <p:spPr>
          <a:xfrm>
            <a:off x="4768395" y="4206407"/>
            <a:ext cx="939267" cy="307777"/>
          </a:xfrm>
          <a:prstGeom prst="rect">
            <a:avLst/>
          </a:prstGeom>
          <a:noFill/>
        </p:spPr>
        <p:txBody>
          <a:bodyPr wrap="square">
            <a:spAutoFit/>
          </a:bodyPr>
          <a:lstStyle/>
          <a:p>
            <a:pPr marL="0" marR="0" indent="127000" algn="just">
              <a:spcBef>
                <a:spcPts val="0"/>
              </a:spcBef>
              <a:spcAft>
                <a:spcPts val="0"/>
              </a:spcAft>
            </a:pPr>
            <a:r>
              <a:rPr lang="zh-CN" altLang="en-US" sz="14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分布式</a:t>
            </a:r>
            <a:endParaRPr lang="zh-CN" altLang="en-US" sz="1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A4807CC6-7F2E-4A77-ABB0-BD6415C823DD}"/>
              </a:ext>
            </a:extLst>
          </p:cNvPr>
          <p:cNvSpPr txBox="1"/>
          <p:nvPr/>
        </p:nvSpPr>
        <p:spPr>
          <a:xfrm>
            <a:off x="6260692" y="4536458"/>
            <a:ext cx="624692" cy="369332"/>
          </a:xfrm>
          <a:prstGeom prst="rect">
            <a:avLst/>
          </a:prstGeom>
          <a:noFill/>
        </p:spPr>
        <p:txBody>
          <a:bodyPr wrap="square" rtlCol="0">
            <a:spAutoFit/>
          </a:bodyPr>
          <a:lstStyle/>
          <a:p>
            <a:r>
              <a:rPr lang="en-US" altLang="zh-CN" dirty="0"/>
              <a:t>12</a:t>
            </a:r>
            <a:endParaRPr lang="zh-CN" altLang="en-US" dirty="0"/>
          </a:p>
        </p:txBody>
      </p:sp>
    </p:spTree>
    <p:extLst>
      <p:ext uri="{BB962C8B-B14F-4D97-AF65-F5344CB8AC3E}">
        <p14:creationId xmlns:p14="http://schemas.microsoft.com/office/powerpoint/2010/main" val="2610693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针对不同类型网络的实验验证</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2B96077-7171-4A28-BF16-BEE372E1BADD}"/>
              </a:ext>
            </a:extLst>
          </p:cNvPr>
          <p:cNvPicPr>
            <a:picLocks noChangeAspect="1"/>
          </p:cNvPicPr>
          <p:nvPr/>
        </p:nvPicPr>
        <p:blipFill>
          <a:blip r:embed="rId3"/>
          <a:stretch>
            <a:fillRect/>
          </a:stretch>
        </p:blipFill>
        <p:spPr>
          <a:xfrm>
            <a:off x="476672" y="903494"/>
            <a:ext cx="2736304" cy="1646883"/>
          </a:xfrm>
          <a:prstGeom prst="rect">
            <a:avLst/>
          </a:prstGeom>
        </p:spPr>
      </p:pic>
      <p:pic>
        <p:nvPicPr>
          <p:cNvPr id="5" name="图片 4">
            <a:extLst>
              <a:ext uri="{FF2B5EF4-FFF2-40B4-BE49-F238E27FC236}">
                <a16:creationId xmlns:a16="http://schemas.microsoft.com/office/drawing/2014/main" id="{8F9411CE-B39C-4C43-93A8-5BEA22FED582}"/>
              </a:ext>
            </a:extLst>
          </p:cNvPr>
          <p:cNvPicPr>
            <a:picLocks noChangeAspect="1"/>
          </p:cNvPicPr>
          <p:nvPr/>
        </p:nvPicPr>
        <p:blipFill>
          <a:blip r:embed="rId4"/>
          <a:stretch>
            <a:fillRect/>
          </a:stretch>
        </p:blipFill>
        <p:spPr>
          <a:xfrm>
            <a:off x="3645025" y="908216"/>
            <a:ext cx="2736303" cy="1646883"/>
          </a:xfrm>
          <a:prstGeom prst="rect">
            <a:avLst/>
          </a:prstGeom>
        </p:spPr>
      </p:pic>
      <p:pic>
        <p:nvPicPr>
          <p:cNvPr id="6" name="图片 5">
            <a:extLst>
              <a:ext uri="{FF2B5EF4-FFF2-40B4-BE49-F238E27FC236}">
                <a16:creationId xmlns:a16="http://schemas.microsoft.com/office/drawing/2014/main" id="{6A01BB76-4D2F-4804-8764-DF1CA4062E8B}"/>
              </a:ext>
            </a:extLst>
          </p:cNvPr>
          <p:cNvPicPr>
            <a:picLocks noChangeAspect="1"/>
          </p:cNvPicPr>
          <p:nvPr/>
        </p:nvPicPr>
        <p:blipFill>
          <a:blip r:embed="rId5"/>
          <a:stretch>
            <a:fillRect/>
          </a:stretch>
        </p:blipFill>
        <p:spPr>
          <a:xfrm>
            <a:off x="476672" y="2931790"/>
            <a:ext cx="2736304" cy="1646883"/>
          </a:xfrm>
          <a:prstGeom prst="rect">
            <a:avLst/>
          </a:prstGeom>
        </p:spPr>
      </p:pic>
      <p:pic>
        <p:nvPicPr>
          <p:cNvPr id="8" name="图片 7">
            <a:extLst>
              <a:ext uri="{FF2B5EF4-FFF2-40B4-BE49-F238E27FC236}">
                <a16:creationId xmlns:a16="http://schemas.microsoft.com/office/drawing/2014/main" id="{C8C01EF2-2940-46A9-BE87-B6E331AA6C79}"/>
              </a:ext>
            </a:extLst>
          </p:cNvPr>
          <p:cNvPicPr>
            <a:picLocks noChangeAspect="1"/>
          </p:cNvPicPr>
          <p:nvPr/>
        </p:nvPicPr>
        <p:blipFill>
          <a:blip r:embed="rId6"/>
          <a:stretch>
            <a:fillRect/>
          </a:stretch>
        </p:blipFill>
        <p:spPr>
          <a:xfrm>
            <a:off x="3645025" y="2931790"/>
            <a:ext cx="2736303" cy="1646883"/>
          </a:xfrm>
          <a:prstGeom prst="rect">
            <a:avLst/>
          </a:prstGeom>
        </p:spPr>
      </p:pic>
      <p:sp>
        <p:nvSpPr>
          <p:cNvPr id="9" name="文本框 8">
            <a:extLst>
              <a:ext uri="{FF2B5EF4-FFF2-40B4-BE49-F238E27FC236}">
                <a16:creationId xmlns:a16="http://schemas.microsoft.com/office/drawing/2014/main" id="{0AB4F2BC-85D8-4E92-9688-04C342A73B6A}"/>
              </a:ext>
            </a:extLst>
          </p:cNvPr>
          <p:cNvSpPr txBox="1"/>
          <p:nvPr/>
        </p:nvSpPr>
        <p:spPr>
          <a:xfrm>
            <a:off x="6260692" y="4536458"/>
            <a:ext cx="624692" cy="369332"/>
          </a:xfrm>
          <a:prstGeom prst="rect">
            <a:avLst/>
          </a:prstGeom>
          <a:noFill/>
        </p:spPr>
        <p:txBody>
          <a:bodyPr wrap="square" rtlCol="0">
            <a:spAutoFit/>
          </a:bodyPr>
          <a:lstStyle/>
          <a:p>
            <a:r>
              <a:rPr lang="en-US" altLang="zh-CN" dirty="0"/>
              <a:t>13</a:t>
            </a:r>
            <a:endParaRPr lang="zh-CN" altLang="en-US" dirty="0"/>
          </a:p>
        </p:txBody>
      </p:sp>
    </p:spTree>
    <p:extLst>
      <p:ext uri="{BB962C8B-B14F-4D97-AF65-F5344CB8AC3E}">
        <p14:creationId xmlns:p14="http://schemas.microsoft.com/office/powerpoint/2010/main" val="3766109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基于节点行为的检测</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AAE7FB87-2F0B-4CD7-A43C-3E3C8593459C}"/>
                  </a:ext>
                </a:extLst>
              </p:cNvPr>
              <p:cNvSpPr txBox="1"/>
              <p:nvPr/>
            </p:nvSpPr>
            <p:spPr>
              <a:xfrm>
                <a:off x="548680" y="610984"/>
                <a:ext cx="5688632" cy="2333588"/>
              </a:xfrm>
              <a:prstGeom prst="rect">
                <a:avLst/>
              </a:prstGeom>
              <a:noFill/>
            </p:spPr>
            <p:txBody>
              <a:bodyPr wrap="square" rtlCol="0">
                <a:spAutoFit/>
              </a:bodyPr>
              <a:lstStyle/>
              <a:p>
                <a:pPr marL="285750" indent="-285750">
                  <a:buFont typeface="Wingdings" pitchFamily="2" charset="2"/>
                  <a:buChar char="n"/>
                </a:pPr>
                <a:r>
                  <a:rPr lang="zh-CN" altLang="en-US" sz="2000" b="1" dirty="0"/>
                  <a:t>检测模型</a:t>
                </a:r>
                <a:endParaRPr lang="en-US" altLang="zh-CN" sz="800" kern="100" dirty="0">
                  <a:effectLst/>
                  <a:latin typeface="等线" panose="02010600030101010101" pitchFamily="2" charset="-122"/>
                  <a:ea typeface="宋体" panose="02010600030101010101" pitchFamily="2" charset="-122"/>
                  <a:cs typeface="Times New Roman" panose="02020603050405020304" pitchFamily="18" charset="0"/>
                </a:endParaRPr>
              </a:p>
              <a:p>
                <a:pPr marL="285750" indent="-285750">
                  <a:buFont typeface="Wingdings" panose="05000000000000000000" pitchFamily="2" charset="2"/>
                  <a:buChar char="Ø"/>
                </a:pPr>
                <a:r>
                  <a:rPr lang="zh-CN" altLang="en-US" sz="1600" b="1" dirty="0"/>
                  <a:t>相关系数计算：</a:t>
                </a:r>
                <a:endParaRPr lang="en-US" altLang="zh-CN" sz="1600" b="1" dirty="0"/>
              </a:p>
              <a:p>
                <a:pPr algn="ct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𝑋</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𝑌</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 </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undOvr"/>
                            <m:subHide m:val="on"/>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up/>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𝑋</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𝑋</m:t>
                                </m:r>
                              </m:e>
                            </m:acc>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𝑌</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𝑌</m:t>
                                </m:r>
                              </m:e>
                            </m:acc>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e>
                        </m:nary>
                      </m:num>
                      <m:den>
                        <m:nary>
                          <m:naryPr>
                            <m:chr m:val="∑"/>
                            <m:limLoc m:val="undOvr"/>
                            <m:subHide m:val="on"/>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up/>
                          <m:e>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𝑋</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𝑋</m:t>
                                    </m:r>
                                  </m:e>
                                </m:acc>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sup>
                            </m:sSup>
                            <m:nary>
                              <m:naryPr>
                                <m:chr m:val="∑"/>
                                <m:limLoc m:val="undOvr"/>
                                <m:subHide m:val="on"/>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up/>
                              <m:e>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𝑌</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𝑌</m:t>
                                        </m:r>
                                      </m:e>
                                    </m:acc>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sup>
                                </m:sSup>
                              </m:e>
                            </m:nary>
                          </m:e>
                        </m:nary>
                      </m:den>
                    </m:f>
                  </m:oMath>
                </a14:m>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    我们使用斯坦福大学的</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SNAP</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数据库中</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2012</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年推特用户行为的真实数据</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Higgs Twitter Dataset</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，对每一对行为属性进行相关性分析，得到了如表所示的分析结果。从表中我们可以看出最具相关性的一对属性为</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粉丝数</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关注数</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3" name="文本框 2">
                <a:extLst>
                  <a:ext uri="{FF2B5EF4-FFF2-40B4-BE49-F238E27FC236}">
                    <a16:creationId xmlns:a16="http://schemas.microsoft.com/office/drawing/2014/main" id="{AAE7FB87-2F0B-4CD7-A43C-3E3C8593459C}"/>
                  </a:ext>
                </a:extLst>
              </p:cNvPr>
              <p:cNvSpPr txBox="1">
                <a:spLocks noRot="1" noChangeAspect="1" noMove="1" noResize="1" noEditPoints="1" noAdjustHandles="1" noChangeArrowheads="1" noChangeShapeType="1" noTextEdit="1"/>
              </p:cNvSpPr>
              <p:nvPr/>
            </p:nvSpPr>
            <p:spPr>
              <a:xfrm>
                <a:off x="548680" y="610984"/>
                <a:ext cx="5688632" cy="2333588"/>
              </a:xfrm>
              <a:prstGeom prst="rect">
                <a:avLst/>
              </a:prstGeom>
              <a:blipFill>
                <a:blip r:embed="rId2"/>
                <a:stretch>
                  <a:fillRect l="-965" t="-2089" b="-1828"/>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45B840AF-3813-4078-B88D-76A4820E54C6}"/>
              </a:ext>
            </a:extLst>
          </p:cNvPr>
          <p:cNvGraphicFramePr>
            <a:graphicFrameLocks noGrp="1"/>
          </p:cNvGraphicFramePr>
          <p:nvPr>
            <p:extLst>
              <p:ext uri="{D42A27DB-BD31-4B8C-83A1-F6EECF244321}">
                <p14:modId xmlns:p14="http://schemas.microsoft.com/office/powerpoint/2010/main" val="4197102104"/>
              </p:ext>
            </p:extLst>
          </p:nvPr>
        </p:nvGraphicFramePr>
        <p:xfrm>
          <a:off x="1529318" y="3318717"/>
          <a:ext cx="3799364" cy="1512170"/>
        </p:xfrm>
        <a:graphic>
          <a:graphicData uri="http://schemas.openxmlformats.org/drawingml/2006/table">
            <a:tbl>
              <a:tblPr firstRow="1" firstCol="1" bandRow="1"/>
              <a:tblGrid>
                <a:gridCol w="759228">
                  <a:extLst>
                    <a:ext uri="{9D8B030D-6E8A-4147-A177-3AD203B41FA5}">
                      <a16:colId xmlns:a16="http://schemas.microsoft.com/office/drawing/2014/main" val="1393726610"/>
                    </a:ext>
                  </a:extLst>
                </a:gridCol>
                <a:gridCol w="760034">
                  <a:extLst>
                    <a:ext uri="{9D8B030D-6E8A-4147-A177-3AD203B41FA5}">
                      <a16:colId xmlns:a16="http://schemas.microsoft.com/office/drawing/2014/main" val="1271380185"/>
                    </a:ext>
                  </a:extLst>
                </a:gridCol>
                <a:gridCol w="760034">
                  <a:extLst>
                    <a:ext uri="{9D8B030D-6E8A-4147-A177-3AD203B41FA5}">
                      <a16:colId xmlns:a16="http://schemas.microsoft.com/office/drawing/2014/main" val="3203855926"/>
                    </a:ext>
                  </a:extLst>
                </a:gridCol>
                <a:gridCol w="760034">
                  <a:extLst>
                    <a:ext uri="{9D8B030D-6E8A-4147-A177-3AD203B41FA5}">
                      <a16:colId xmlns:a16="http://schemas.microsoft.com/office/drawing/2014/main" val="732314591"/>
                    </a:ext>
                  </a:extLst>
                </a:gridCol>
                <a:gridCol w="760034">
                  <a:extLst>
                    <a:ext uri="{9D8B030D-6E8A-4147-A177-3AD203B41FA5}">
                      <a16:colId xmlns:a16="http://schemas.microsoft.com/office/drawing/2014/main" val="1980223742"/>
                    </a:ext>
                  </a:extLst>
                </a:gridCol>
              </a:tblGrid>
              <a:tr h="302434">
                <a:tc>
                  <a:txBody>
                    <a:bodyPr/>
                    <a:lstStyle/>
                    <a:p>
                      <a:pPr indent="127000" algn="just"/>
                      <a:r>
                        <a:rPr lang="zh-CN" sz="1050" kern="100">
                          <a:effectLst/>
                          <a:latin typeface="等线" panose="02010600030101010101" pitchFamily="2" charset="-122"/>
                          <a:ea typeface="宋体" panose="02010600030101010101" pitchFamily="2" charset="-122"/>
                          <a:cs typeface="Times New Roman" panose="02020603050405020304" pitchFamily="18" charset="0"/>
                        </a:rPr>
                        <a:t>属性</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r>
                        <a:rPr lang="zh-CN" sz="1050" kern="100" dirty="0">
                          <a:effectLst/>
                          <a:latin typeface="等线" panose="02010600030101010101" pitchFamily="2" charset="-122"/>
                          <a:ea typeface="宋体" panose="02010600030101010101" pitchFamily="2" charset="-122"/>
                          <a:cs typeface="Times New Roman" panose="02020603050405020304" pitchFamily="18" charset="0"/>
                        </a:rPr>
                        <a:t>粉丝数</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r>
                        <a:rPr lang="zh-CN" sz="1050" kern="100" dirty="0">
                          <a:effectLst/>
                          <a:latin typeface="等线" panose="02010600030101010101" pitchFamily="2" charset="-122"/>
                          <a:ea typeface="宋体" panose="02010600030101010101" pitchFamily="2" charset="-122"/>
                          <a:cs typeface="Times New Roman" panose="02020603050405020304" pitchFamily="18" charset="0"/>
                        </a:rPr>
                        <a:t>关注数</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r>
                        <a:rPr lang="zh-CN" sz="1050" kern="100">
                          <a:effectLst/>
                          <a:latin typeface="等线" panose="02010600030101010101" pitchFamily="2" charset="-122"/>
                          <a:ea typeface="宋体" panose="02010600030101010101" pitchFamily="2" charset="-122"/>
                          <a:cs typeface="Times New Roman" panose="02020603050405020304" pitchFamily="18" charset="0"/>
                        </a:rPr>
                        <a:t>点赞数</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r>
                        <a:rPr lang="zh-CN" sz="1050" kern="100">
                          <a:effectLst/>
                          <a:latin typeface="等线" panose="02010600030101010101" pitchFamily="2" charset="-122"/>
                          <a:ea typeface="宋体" panose="02010600030101010101" pitchFamily="2" charset="-122"/>
                          <a:cs typeface="Times New Roman" panose="02020603050405020304" pitchFamily="18" charset="0"/>
                        </a:rPr>
                        <a:t>状态</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91319"/>
                  </a:ext>
                </a:extLst>
              </a:tr>
              <a:tr h="302434">
                <a:tc>
                  <a:txBody>
                    <a:bodyPr/>
                    <a:lstStyle/>
                    <a:p>
                      <a:pPr indent="127000" algn="just"/>
                      <a:r>
                        <a:rPr lang="zh-CN" sz="1050" kern="100">
                          <a:effectLst/>
                          <a:latin typeface="等线" panose="02010600030101010101" pitchFamily="2" charset="-122"/>
                          <a:ea typeface="宋体" panose="02010600030101010101" pitchFamily="2" charset="-122"/>
                          <a:cs typeface="Times New Roman" panose="02020603050405020304" pitchFamily="18" charset="0"/>
                        </a:rPr>
                        <a:t>粉丝数</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67385767"/>
                  </a:ext>
                </a:extLst>
              </a:tr>
              <a:tr h="302434">
                <a:tc>
                  <a:txBody>
                    <a:bodyPr/>
                    <a:lstStyle/>
                    <a:p>
                      <a:pPr indent="127000" algn="just"/>
                      <a:r>
                        <a:rPr lang="zh-CN" sz="1050" kern="100">
                          <a:effectLst/>
                          <a:latin typeface="等线" panose="02010600030101010101" pitchFamily="2" charset="-122"/>
                          <a:ea typeface="宋体" panose="02010600030101010101" pitchFamily="2" charset="-122"/>
                          <a:cs typeface="Times New Roman" panose="02020603050405020304" pitchFamily="18" charset="0"/>
                        </a:rPr>
                        <a:t>关注数</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0.8982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195969747"/>
                  </a:ext>
                </a:extLst>
              </a:tr>
              <a:tr h="302434">
                <a:tc>
                  <a:txBody>
                    <a:bodyPr/>
                    <a:lstStyle/>
                    <a:p>
                      <a:pPr indent="127000" algn="just"/>
                      <a:r>
                        <a:rPr lang="zh-CN" sz="1050" kern="100">
                          <a:effectLst/>
                          <a:latin typeface="等线" panose="02010600030101010101" pitchFamily="2" charset="-122"/>
                          <a:ea typeface="宋体" panose="02010600030101010101" pitchFamily="2" charset="-122"/>
                          <a:cs typeface="Times New Roman" panose="02020603050405020304" pitchFamily="18" charset="0"/>
                        </a:rPr>
                        <a:t>点赞数</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-0.2081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0.1296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257801833"/>
                  </a:ext>
                </a:extLst>
              </a:tr>
              <a:tr h="302434">
                <a:tc>
                  <a:txBody>
                    <a:bodyPr/>
                    <a:lstStyle/>
                    <a:p>
                      <a:pPr indent="127000" algn="just"/>
                      <a:r>
                        <a:rPr lang="zh-CN" sz="1050" kern="100">
                          <a:effectLst/>
                          <a:latin typeface="等线" panose="02010600030101010101" pitchFamily="2" charset="-122"/>
                          <a:ea typeface="宋体" panose="02010600030101010101" pitchFamily="2" charset="-122"/>
                          <a:cs typeface="Times New Roman" panose="02020603050405020304" pitchFamily="18" charset="0"/>
                        </a:rPr>
                        <a:t>状态</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0.5826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0.4963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indent="127000" algn="just"/>
                      <a:r>
                        <a:rPr lang="en-US" sz="1050" kern="100">
                          <a:effectLst/>
                          <a:latin typeface="等线" panose="02010600030101010101" pitchFamily="2" charset="-122"/>
                          <a:ea typeface="等线" panose="02010600030101010101" pitchFamily="2" charset="-122"/>
                          <a:cs typeface="Times New Roman" panose="02020603050405020304" pitchFamily="18" charset="0"/>
                        </a:rPr>
                        <a:t>0.0281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indent="127000" algn="just"/>
                      <a:r>
                        <a:rPr lang="en-US" sz="1050"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1250188"/>
                  </a:ext>
                </a:extLst>
              </a:tr>
            </a:tbl>
          </a:graphicData>
        </a:graphic>
      </p:graphicFrame>
      <p:sp>
        <p:nvSpPr>
          <p:cNvPr id="10" name="文本框 9">
            <a:extLst>
              <a:ext uri="{FF2B5EF4-FFF2-40B4-BE49-F238E27FC236}">
                <a16:creationId xmlns:a16="http://schemas.microsoft.com/office/drawing/2014/main" id="{C2C246BE-1551-4517-BA2C-45CA932A4BFF}"/>
              </a:ext>
            </a:extLst>
          </p:cNvPr>
          <p:cNvSpPr txBox="1"/>
          <p:nvPr/>
        </p:nvSpPr>
        <p:spPr>
          <a:xfrm>
            <a:off x="1713523" y="3020455"/>
            <a:ext cx="3430954" cy="253916"/>
          </a:xfrm>
          <a:prstGeom prst="rect">
            <a:avLst/>
          </a:prstGeom>
          <a:noFill/>
        </p:spPr>
        <p:txBody>
          <a:bodyPr wrap="square">
            <a:spAutoFit/>
          </a:bodyPr>
          <a:lstStyle/>
          <a:p>
            <a:pPr indent="127000" algn="ctr">
              <a:spcAft>
                <a:spcPts val="240"/>
              </a:spcAft>
            </a:pP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表</a:t>
            </a:r>
            <a:r>
              <a:rPr lang="en-US" altLang="zh-CN" sz="1050" b="1" kern="100" dirty="0">
                <a:effectLst/>
                <a:latin typeface="Times New Roman" panose="02020603050405020304" pitchFamily="18" charset="0"/>
                <a:ea typeface="等线" panose="02010600030101010101" pitchFamily="2" charset="-122"/>
                <a:cs typeface="Times New Roman" panose="02020603050405020304" pitchFamily="18" charset="0"/>
              </a:rPr>
              <a:t>7 </a:t>
            </a:r>
            <a:r>
              <a:rPr lang="zh-CN" altLang="zh-CN" sz="1050" b="1" kern="100" dirty="0">
                <a:effectLst/>
                <a:latin typeface="Times New Roman" panose="02020603050405020304" pitchFamily="18" charset="0"/>
                <a:ea typeface="宋体" panose="02010600030101010101" pitchFamily="2" charset="-122"/>
                <a:cs typeface="Times New Roman" panose="02020603050405020304" pitchFamily="18" charset="0"/>
              </a:rPr>
              <a:t>相关系数比较表</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51A75745-74B3-42A2-A712-5F8FCC4FC09A}"/>
              </a:ext>
            </a:extLst>
          </p:cNvPr>
          <p:cNvSpPr txBox="1"/>
          <p:nvPr/>
        </p:nvSpPr>
        <p:spPr>
          <a:xfrm>
            <a:off x="6260692" y="4536458"/>
            <a:ext cx="624692" cy="369332"/>
          </a:xfrm>
          <a:prstGeom prst="rect">
            <a:avLst/>
          </a:prstGeom>
          <a:noFill/>
        </p:spPr>
        <p:txBody>
          <a:bodyPr wrap="square" rtlCol="0">
            <a:spAutoFit/>
          </a:bodyPr>
          <a:lstStyle/>
          <a:p>
            <a:r>
              <a:rPr lang="en-US" altLang="zh-CN" dirty="0"/>
              <a:t>14</a:t>
            </a:r>
            <a:endParaRPr lang="zh-CN" altLang="en-US" dirty="0"/>
          </a:p>
        </p:txBody>
      </p:sp>
    </p:spTree>
    <p:extLst>
      <p:ext uri="{BB962C8B-B14F-4D97-AF65-F5344CB8AC3E}">
        <p14:creationId xmlns:p14="http://schemas.microsoft.com/office/powerpoint/2010/main" val="26437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基于节点行为的检测</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9316F962-A822-4DE1-A9D2-54BFDC5AC726}"/>
                  </a:ext>
                </a:extLst>
              </p:cNvPr>
              <p:cNvSpPr txBox="1"/>
              <p:nvPr/>
            </p:nvSpPr>
            <p:spPr>
              <a:xfrm>
                <a:off x="548680" y="610984"/>
                <a:ext cx="5688632" cy="1533946"/>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b="1" dirty="0"/>
                  <a:t>平均</a:t>
                </a:r>
                <a:r>
                  <a:rPr lang="en-US" altLang="zh-CN" sz="1600" b="1" dirty="0"/>
                  <a:t>F/F</a:t>
                </a:r>
                <a:r>
                  <a:rPr lang="zh-CN" altLang="en-US" sz="1600" b="1" dirty="0"/>
                  <a:t>率：</a:t>
                </a:r>
                <a:endParaRPr lang="en-US" altLang="zh-CN" sz="1600" b="1" dirty="0"/>
              </a:p>
              <a:p>
                <a:pPr indent="266700" algn="just"/>
                <a14:m>
                  <m:oMathPara xmlns:m="http://schemas.openxmlformats.org/officeDocument/2006/math">
                    <m:oMathParaPr>
                      <m:jc m:val="centerGroup"/>
                    </m:oMathParaPr>
                    <m:oMath xmlns:m="http://schemas.openxmlformats.org/officeDocument/2006/math">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𝑠</m:t>
                          </m:r>
                        </m:e>
                      </m:d>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 </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𝑛</m:t>
                          </m:r>
                        </m:den>
                      </m:f>
                      <m:nary>
                        <m:naryPr>
                          <m:chr m:val="∑"/>
                          <m:limLoc m:val="undOv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𝐹</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e>
                      </m:nary>
                    </m:oMath>
                  </m:oMathPara>
                </a14:m>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F(x)</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为样本节点</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在属性</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下的值（如</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F1(x)</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表示</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的粉丝数）</a:t>
                </a:r>
                <a:endParaRPr lang="en-US" altLang="zh-CN" sz="1600" kern="100" dirty="0">
                  <a:latin typeface="Times New Roman" panose="02020603050405020304" pitchFamily="18" charset="0"/>
                  <a:cs typeface="Times New Roman" panose="02020603050405020304" pitchFamily="18" charset="0"/>
                </a:endParaRPr>
              </a:p>
              <a:p>
                <a:pPr algn="ctr"/>
                <a:r>
                  <a:rPr lang="en-US" altLang="zh-CN" sz="16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600" kern="100" dirty="0">
                    <a:latin typeface="Times New Roman" panose="02020603050405020304" pitchFamily="18" charset="0"/>
                    <a:cs typeface="Times New Roman" panose="02020603050405020304" pitchFamily="18" charset="0"/>
                  </a:rPr>
                  <a:t>s</a:t>
                </a:r>
                <a:r>
                  <a:rPr lang="zh-CN" altLang="en-US" sz="1600" kern="100" dirty="0">
                    <a:latin typeface="Times New Roman" panose="02020603050405020304" pitchFamily="18" charset="0"/>
                    <a:cs typeface="Times New Roman" panose="02020603050405020304" pitchFamily="18" charset="0"/>
                  </a:rPr>
                  <a:t>为数据集</a:t>
                </a:r>
                <a:endParaRPr lang="zh-CN" altLang="zh-CN" sz="1600" kern="100" dirty="0">
                  <a:latin typeface="Times New Roman" panose="02020603050405020304" pitchFamily="18" charset="0"/>
                  <a:cs typeface="Times New Roman" panose="02020603050405020304" pitchFamily="18" charset="0"/>
                </a:endParaRPr>
              </a:p>
            </p:txBody>
          </p:sp>
        </mc:Choice>
        <mc:Fallback>
          <p:sp>
            <p:nvSpPr>
              <p:cNvPr id="3" name="文本框 2">
                <a:extLst>
                  <a:ext uri="{FF2B5EF4-FFF2-40B4-BE49-F238E27FC236}">
                    <a16:creationId xmlns:a16="http://schemas.microsoft.com/office/drawing/2014/main" id="{9316F962-A822-4DE1-A9D2-54BFDC5AC726}"/>
                  </a:ext>
                </a:extLst>
              </p:cNvPr>
              <p:cNvSpPr txBox="1">
                <a:spLocks noRot="1" noChangeAspect="1" noMove="1" noResize="1" noEditPoints="1" noAdjustHandles="1" noChangeArrowheads="1" noChangeShapeType="1" noTextEdit="1"/>
              </p:cNvSpPr>
              <p:nvPr/>
            </p:nvSpPr>
            <p:spPr>
              <a:xfrm>
                <a:off x="548680" y="610984"/>
                <a:ext cx="5688632" cy="1533946"/>
              </a:xfrm>
              <a:prstGeom prst="rect">
                <a:avLst/>
              </a:prstGeom>
              <a:blipFill>
                <a:blip r:embed="rId3"/>
                <a:stretch>
                  <a:fillRect l="-429" t="-1587" b="-238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8DAA179-78AB-4639-A18D-4014AE02CAB5}"/>
              </a:ext>
            </a:extLst>
          </p:cNvPr>
          <p:cNvSpPr txBox="1"/>
          <p:nvPr/>
        </p:nvSpPr>
        <p:spPr>
          <a:xfrm>
            <a:off x="544597" y="1898708"/>
            <a:ext cx="5688632" cy="1323439"/>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b="1" dirty="0"/>
              <a:t>算法流程：</a:t>
            </a:r>
            <a:endParaRPr lang="en-US" altLang="zh-CN" sz="1600" b="1" dirty="0"/>
          </a:p>
          <a:p>
            <a:pPr marL="342900" indent="-342900">
              <a:buFont typeface="+mj-ea"/>
              <a:buAutoNum type="circleNumDbPlain"/>
            </a:pPr>
            <a:r>
              <a:rPr lang="zh-CN" altLang="en-US" sz="1600" dirty="0"/>
              <a:t>计算平均</a:t>
            </a:r>
            <a:r>
              <a:rPr lang="en-US" altLang="zh-CN" sz="1600" dirty="0"/>
              <a:t>F/F</a:t>
            </a:r>
            <a:r>
              <a:rPr lang="zh-CN" altLang="en-US" sz="1600" dirty="0"/>
              <a:t>率；</a:t>
            </a:r>
          </a:p>
          <a:p>
            <a:pPr marL="342900" indent="-342900">
              <a:buFont typeface="+mj-ea"/>
              <a:buAutoNum type="circleNumDbPlain"/>
            </a:pPr>
            <a:r>
              <a:rPr lang="zh-CN" altLang="en-US" sz="1600" dirty="0"/>
              <a:t>如果</a:t>
            </a:r>
            <a:r>
              <a:rPr lang="en-US" altLang="zh-CN" sz="1600" dirty="0"/>
              <a:t>0.5F( S)</a:t>
            </a:r>
            <a:r>
              <a:rPr lang="zh-CN" altLang="en-US" sz="1600" dirty="0"/>
              <a:t>＜</a:t>
            </a:r>
            <a:r>
              <a:rPr lang="en-US" altLang="zh-CN" sz="1600" dirty="0"/>
              <a:t>F( X)</a:t>
            </a:r>
            <a:r>
              <a:rPr lang="zh-CN" altLang="en-US" sz="1600" dirty="0"/>
              <a:t>＜</a:t>
            </a:r>
            <a:r>
              <a:rPr lang="en-US" altLang="zh-CN" sz="1600" dirty="0"/>
              <a:t>1.5F( S) </a:t>
            </a:r>
            <a:r>
              <a:rPr lang="zh-CN" altLang="en-US" sz="1600" dirty="0"/>
              <a:t>，使用</a:t>
            </a:r>
            <a:r>
              <a:rPr lang="en-US" altLang="zh-CN" sz="1600" dirty="0"/>
              <a:t>KNN</a:t>
            </a:r>
            <a:r>
              <a:rPr lang="zh-CN" altLang="en-US" sz="1600" dirty="0"/>
              <a:t>算法；</a:t>
            </a:r>
          </a:p>
          <a:p>
            <a:pPr marL="342900" indent="-342900">
              <a:buFont typeface="+mj-ea"/>
              <a:buAutoNum type="circleNumDbPlain"/>
            </a:pPr>
            <a:r>
              <a:rPr lang="zh-CN" altLang="en-US" sz="1600" dirty="0"/>
              <a:t>否则使用朴素贝叶斯算法；</a:t>
            </a:r>
          </a:p>
          <a:p>
            <a:pPr marL="342900" indent="-342900">
              <a:buFont typeface="+mj-ea"/>
              <a:buAutoNum type="circleNumDbPlain"/>
            </a:pPr>
            <a:r>
              <a:rPr lang="zh-CN" altLang="en-US" sz="1600" dirty="0"/>
              <a:t>返回分类结果。</a:t>
            </a:r>
          </a:p>
        </p:txBody>
      </p:sp>
      <p:sp>
        <p:nvSpPr>
          <p:cNvPr id="5" name="文本框 4">
            <a:extLst>
              <a:ext uri="{FF2B5EF4-FFF2-40B4-BE49-F238E27FC236}">
                <a16:creationId xmlns:a16="http://schemas.microsoft.com/office/drawing/2014/main" id="{7CFFB79D-C877-4C36-B6F6-E573BA95CE10}"/>
              </a:ext>
            </a:extLst>
          </p:cNvPr>
          <p:cNvSpPr txBox="1"/>
          <p:nvPr/>
        </p:nvSpPr>
        <p:spPr>
          <a:xfrm>
            <a:off x="548680" y="3216540"/>
            <a:ext cx="5688632" cy="338554"/>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b="1" dirty="0"/>
              <a:t>实验结果：</a:t>
            </a:r>
            <a:endParaRPr lang="en-US" altLang="zh-CN" sz="1600" b="1" dirty="0"/>
          </a:p>
        </p:txBody>
      </p:sp>
      <p:pic>
        <p:nvPicPr>
          <p:cNvPr id="7" name="图片 6">
            <a:extLst>
              <a:ext uri="{FF2B5EF4-FFF2-40B4-BE49-F238E27FC236}">
                <a16:creationId xmlns:a16="http://schemas.microsoft.com/office/drawing/2014/main" id="{D16BF100-8823-4245-B0F7-EF4EE2D45123}"/>
              </a:ext>
            </a:extLst>
          </p:cNvPr>
          <p:cNvPicPr>
            <a:picLocks noChangeAspect="1"/>
          </p:cNvPicPr>
          <p:nvPr/>
        </p:nvPicPr>
        <p:blipFill>
          <a:blip r:embed="rId4"/>
          <a:stretch>
            <a:fillRect/>
          </a:stretch>
        </p:blipFill>
        <p:spPr>
          <a:xfrm>
            <a:off x="2420888" y="2997758"/>
            <a:ext cx="3240360" cy="1950256"/>
          </a:xfrm>
          <a:prstGeom prst="rect">
            <a:avLst/>
          </a:prstGeom>
        </p:spPr>
      </p:pic>
      <p:sp>
        <p:nvSpPr>
          <p:cNvPr id="8" name="文本框 7">
            <a:extLst>
              <a:ext uri="{FF2B5EF4-FFF2-40B4-BE49-F238E27FC236}">
                <a16:creationId xmlns:a16="http://schemas.microsoft.com/office/drawing/2014/main" id="{DF97E563-1497-480D-9D6E-52D81CC382AD}"/>
              </a:ext>
            </a:extLst>
          </p:cNvPr>
          <p:cNvSpPr txBox="1"/>
          <p:nvPr/>
        </p:nvSpPr>
        <p:spPr>
          <a:xfrm>
            <a:off x="6260692" y="4536458"/>
            <a:ext cx="624692" cy="369332"/>
          </a:xfrm>
          <a:prstGeom prst="rect">
            <a:avLst/>
          </a:prstGeom>
          <a:noFill/>
        </p:spPr>
        <p:txBody>
          <a:bodyPr wrap="square" rtlCol="0">
            <a:spAutoFit/>
          </a:bodyPr>
          <a:lstStyle/>
          <a:p>
            <a:r>
              <a:rPr lang="en-US" altLang="zh-CN" dirty="0"/>
              <a:t>15</a:t>
            </a:r>
            <a:endParaRPr lang="zh-CN" altLang="en-US" dirty="0"/>
          </a:p>
        </p:txBody>
      </p:sp>
    </p:spTree>
    <p:extLst>
      <p:ext uri="{BB962C8B-B14F-4D97-AF65-F5344CB8AC3E}">
        <p14:creationId xmlns:p14="http://schemas.microsoft.com/office/powerpoint/2010/main" val="3766344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组合 6"/>
          <p:cNvGrpSpPr>
            <a:grpSpLocks/>
          </p:cNvGrpSpPr>
          <p:nvPr/>
        </p:nvGrpSpPr>
        <p:grpSpPr bwMode="auto">
          <a:xfrm>
            <a:off x="641350" y="1362075"/>
            <a:ext cx="1673225" cy="1674813"/>
            <a:chOff x="1330026" y="1365494"/>
            <a:chExt cx="3395626" cy="3395626"/>
          </a:xfrm>
        </p:grpSpPr>
        <p:grpSp>
          <p:nvGrpSpPr>
            <p:cNvPr id="54322" name="组合 2"/>
            <p:cNvGrpSpPr>
              <a:grpSpLocks/>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sp>
            <p:nvSpPr>
              <p:cNvPr id="5" name="椭圆 4"/>
              <p:cNvSpPr>
                <a:spLocks noChangeAspect="1"/>
              </p:cNvSpPr>
              <p:nvPr/>
            </p:nvSpPr>
            <p:spPr>
              <a:xfrm>
                <a:off x="1249500" y="2303602"/>
                <a:ext cx="2016000" cy="2016408"/>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grpSp>
        <p:pic>
          <p:nvPicPr>
            <p:cNvPr id="54323"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1240"/>
            <a:ext cx="810000" cy="81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sp>
        <p:nvSpPr>
          <p:cNvPr id="9" name="直角三角形 8"/>
          <p:cNvSpPr/>
          <p:nvPr/>
        </p:nvSpPr>
        <p:spPr>
          <a:xfrm rot="16200000">
            <a:off x="6048000" y="4333500"/>
            <a:ext cx="810000" cy="81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ea typeface="微软雅黑" panose="020B0503020204020204" pitchFamily="34" charset="-122"/>
            </a:endParaRPr>
          </a:p>
        </p:txBody>
      </p:sp>
      <p:grpSp>
        <p:nvGrpSpPr>
          <p:cNvPr id="54281" name="组合 5"/>
          <p:cNvGrpSpPr>
            <a:grpSpLocks/>
          </p:cNvGrpSpPr>
          <p:nvPr/>
        </p:nvGrpSpPr>
        <p:grpSpPr bwMode="auto">
          <a:xfrm>
            <a:off x="2815853" y="846137"/>
            <a:ext cx="3660775" cy="515938"/>
            <a:chOff x="3507234" y="1752600"/>
            <a:chExt cx="4881189" cy="688579"/>
          </a:xfrm>
        </p:grpSpPr>
        <p:grpSp>
          <p:nvGrpSpPr>
            <p:cNvPr id="54313" name="Group 5"/>
            <p:cNvGrpSpPr>
              <a:grpSpLocks/>
            </p:cNvGrpSpPr>
            <p:nvPr/>
          </p:nvGrpSpPr>
          <p:grpSpPr bwMode="auto">
            <a:xfrm>
              <a:off x="3507234" y="1752600"/>
              <a:ext cx="762000" cy="665163"/>
              <a:chOff x="0" y="0"/>
              <a:chExt cx="1549" cy="1351"/>
            </a:xfrm>
          </p:grpSpPr>
          <p:sp>
            <p:nvSpPr>
              <p:cNvPr id="54317"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4318"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4319" name="AutoShape 8"/>
              <p:cNvGrpSpPr>
                <a:grpSpLocks/>
              </p:cNvGrpSpPr>
              <p:nvPr/>
            </p:nvGrpSpPr>
            <p:grpSpPr bwMode="auto">
              <a:xfrm>
                <a:off x="68" y="54"/>
                <a:ext cx="1400" cy="1213"/>
                <a:chOff x="0" y="0"/>
                <a:chExt cx="688848" cy="597408"/>
              </a:xfrm>
            </p:grpSpPr>
            <p:pic>
              <p:nvPicPr>
                <p:cNvPr id="54320" name="AutoShape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21"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4314" name="Line 13"/>
            <p:cNvSpPr>
              <a:spLocks noChangeShapeType="1"/>
            </p:cNvSpPr>
            <p:nvPr/>
          </p:nvSpPr>
          <p:spPr bwMode="auto">
            <a:xfrm>
              <a:off x="4116834" y="2359025"/>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4315" name="Text Box 15"/>
            <p:cNvSpPr txBox="1">
              <a:spLocks noChangeArrowheads="1"/>
            </p:cNvSpPr>
            <p:nvPr/>
          </p:nvSpPr>
          <p:spPr bwMode="auto">
            <a:xfrm>
              <a:off x="3631877" y="182562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1</a:t>
              </a:r>
            </a:p>
          </p:txBody>
        </p:sp>
        <p:sp>
          <p:nvSpPr>
            <p:cNvPr id="54316" name="Text Box 17"/>
            <p:cNvSpPr txBox="1">
              <a:spLocks noChangeArrowheads="1"/>
            </p:cNvSpPr>
            <p:nvPr/>
          </p:nvSpPr>
          <p:spPr bwMode="auto">
            <a:xfrm>
              <a:off x="4231445" y="1772815"/>
              <a:ext cx="4156978"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31589C"/>
                  </a:solidFill>
                  <a:latin typeface="Tahoma" panose="020B0604030504040204" pitchFamily="34" charset="0"/>
                  <a:ea typeface="微软雅黑" panose="020B0503020204020204" pitchFamily="34" charset="-122"/>
                </a:rPr>
                <a:t>研究背景</a:t>
              </a:r>
            </a:p>
          </p:txBody>
        </p:sp>
      </p:grpSp>
      <p:sp>
        <p:nvSpPr>
          <p:cNvPr id="54282" name="矩形 1"/>
          <p:cNvSpPr>
            <a:spLocks noChangeArrowheads="1"/>
          </p:cNvSpPr>
          <p:nvPr/>
        </p:nvSpPr>
        <p:spPr bwMode="auto">
          <a:xfrm>
            <a:off x="692150" y="3163888"/>
            <a:ext cx="15700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700" b="1">
                <a:solidFill>
                  <a:srgbClr val="325AA1"/>
                </a:solidFill>
                <a:latin typeface="微软雅黑" panose="020B0503020204020204" pitchFamily="34" charset="-122"/>
                <a:ea typeface="微软雅黑" panose="020B0503020204020204" pitchFamily="34" charset="-122"/>
              </a:rPr>
              <a:t>报告内容</a:t>
            </a:r>
          </a:p>
        </p:txBody>
      </p:sp>
      <p:grpSp>
        <p:nvGrpSpPr>
          <p:cNvPr id="54284" name="组合 29"/>
          <p:cNvGrpSpPr>
            <a:grpSpLocks/>
          </p:cNvGrpSpPr>
          <p:nvPr/>
        </p:nvGrpSpPr>
        <p:grpSpPr bwMode="auto">
          <a:xfrm>
            <a:off x="2815853" y="2286596"/>
            <a:ext cx="3238281" cy="536575"/>
            <a:chOff x="3507234" y="2813050"/>
            <a:chExt cx="4319405" cy="713979"/>
          </a:xfrm>
        </p:grpSpPr>
        <p:grpSp>
          <p:nvGrpSpPr>
            <p:cNvPr id="54295" name="Group 9"/>
            <p:cNvGrpSpPr>
              <a:grpSpLocks/>
            </p:cNvGrpSpPr>
            <p:nvPr/>
          </p:nvGrpSpPr>
          <p:grpSpPr bwMode="auto">
            <a:xfrm>
              <a:off x="3507234" y="2813050"/>
              <a:ext cx="762000" cy="665163"/>
              <a:chOff x="0" y="0"/>
              <a:chExt cx="1549" cy="1351"/>
            </a:xfrm>
          </p:grpSpPr>
          <p:sp>
            <p:nvSpPr>
              <p:cNvPr id="54299"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4300"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4301" name="AutoShape 12"/>
              <p:cNvGrpSpPr>
                <a:grpSpLocks/>
              </p:cNvGrpSpPr>
              <p:nvPr/>
            </p:nvGrpSpPr>
            <p:grpSpPr bwMode="auto">
              <a:xfrm>
                <a:off x="68" y="54"/>
                <a:ext cx="1400" cy="1213"/>
                <a:chOff x="0" y="0"/>
                <a:chExt cx="688848" cy="597408"/>
              </a:xfrm>
            </p:grpSpPr>
            <p:pic>
              <p:nvPicPr>
                <p:cNvPr id="54302" name="AutoShap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03"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4296" name="Line 16"/>
            <p:cNvSpPr>
              <a:spLocks noChangeShapeType="1"/>
            </p:cNvSpPr>
            <p:nvPr/>
          </p:nvSpPr>
          <p:spPr bwMode="auto">
            <a:xfrm>
              <a:off x="4116834" y="3422650"/>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4297" name="Text Box 18"/>
            <p:cNvSpPr txBox="1">
              <a:spLocks noChangeArrowheads="1"/>
            </p:cNvSpPr>
            <p:nvPr/>
          </p:nvSpPr>
          <p:spPr bwMode="auto">
            <a:xfrm>
              <a:off x="3631877" y="291147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a:t>
              </a:r>
            </a:p>
          </p:txBody>
        </p:sp>
        <p:sp>
          <p:nvSpPr>
            <p:cNvPr id="54298" name="Text Box 24"/>
            <p:cNvSpPr txBox="1">
              <a:spLocks noChangeArrowheads="1"/>
            </p:cNvSpPr>
            <p:nvPr/>
          </p:nvSpPr>
          <p:spPr bwMode="auto">
            <a:xfrm>
              <a:off x="4229036" y="2822553"/>
              <a:ext cx="3597603" cy="61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400" b="1" dirty="0">
                  <a:solidFill>
                    <a:srgbClr val="31589C"/>
                  </a:solidFill>
                  <a:latin typeface="Tahoma" panose="020B0604030504040204" pitchFamily="34" charset="0"/>
                  <a:ea typeface="微软雅黑" panose="020B0503020204020204" pitchFamily="34" charset="-122"/>
                </a:rPr>
                <a:t>研究内容</a:t>
              </a:r>
            </a:p>
          </p:txBody>
        </p:sp>
      </p:grpSp>
      <p:grpSp>
        <p:nvGrpSpPr>
          <p:cNvPr id="50" name="组合 29"/>
          <p:cNvGrpSpPr>
            <a:grpSpLocks/>
          </p:cNvGrpSpPr>
          <p:nvPr/>
        </p:nvGrpSpPr>
        <p:grpSpPr bwMode="auto">
          <a:xfrm>
            <a:off x="2819149" y="3649605"/>
            <a:ext cx="3240088" cy="536575"/>
            <a:chOff x="3507234" y="2813050"/>
            <a:chExt cx="4321816" cy="713979"/>
          </a:xfrm>
        </p:grpSpPr>
        <p:grpSp>
          <p:nvGrpSpPr>
            <p:cNvPr id="51" name="Group 9"/>
            <p:cNvGrpSpPr>
              <a:grpSpLocks/>
            </p:cNvGrpSpPr>
            <p:nvPr/>
          </p:nvGrpSpPr>
          <p:grpSpPr bwMode="auto">
            <a:xfrm>
              <a:off x="3507234" y="2813050"/>
              <a:ext cx="762000" cy="665163"/>
              <a:chOff x="0" y="0"/>
              <a:chExt cx="1549" cy="1351"/>
            </a:xfrm>
          </p:grpSpPr>
          <p:sp>
            <p:nvSpPr>
              <p:cNvPr id="55"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6"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57" name="AutoShape 12"/>
              <p:cNvGrpSpPr>
                <a:grpSpLocks/>
              </p:cNvGrpSpPr>
              <p:nvPr/>
            </p:nvGrpSpPr>
            <p:grpSpPr bwMode="auto">
              <a:xfrm>
                <a:off x="68" y="54"/>
                <a:ext cx="1400" cy="1213"/>
                <a:chOff x="0" y="0"/>
                <a:chExt cx="688848" cy="597408"/>
              </a:xfrm>
            </p:grpSpPr>
            <p:pic>
              <p:nvPicPr>
                <p:cNvPr id="58" name="AutoShap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2400" b="1">
                    <a:solidFill>
                      <a:schemeClr val="bg1"/>
                    </a:solidFill>
                    <a:ea typeface="黑体" panose="02010609060101010101" pitchFamily="49" charset="-122"/>
                  </a:endParaRPr>
                </a:p>
              </p:txBody>
            </p:sp>
          </p:grpSp>
        </p:grpSp>
        <p:sp>
          <p:nvSpPr>
            <p:cNvPr id="52" name="Line 16"/>
            <p:cNvSpPr>
              <a:spLocks noChangeShapeType="1"/>
            </p:cNvSpPr>
            <p:nvPr/>
          </p:nvSpPr>
          <p:spPr bwMode="auto">
            <a:xfrm>
              <a:off x="4116834" y="3422650"/>
              <a:ext cx="3514725"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3" name="Text Box 18"/>
            <p:cNvSpPr txBox="1">
              <a:spLocks noChangeArrowheads="1"/>
            </p:cNvSpPr>
            <p:nvPr/>
          </p:nvSpPr>
          <p:spPr bwMode="auto">
            <a:xfrm>
              <a:off x="3631877" y="2911475"/>
              <a:ext cx="498427"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3</a:t>
              </a:r>
            </a:p>
          </p:txBody>
        </p:sp>
        <p:sp>
          <p:nvSpPr>
            <p:cNvPr id="54" name="Text Box 24"/>
            <p:cNvSpPr txBox="1">
              <a:spLocks noChangeArrowheads="1"/>
            </p:cNvSpPr>
            <p:nvPr/>
          </p:nvSpPr>
          <p:spPr bwMode="auto">
            <a:xfrm>
              <a:off x="4231447" y="2846107"/>
              <a:ext cx="3597603" cy="61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400" b="1" dirty="0">
                  <a:solidFill>
                    <a:srgbClr val="FF0000"/>
                  </a:solidFill>
                  <a:latin typeface="Tahoma" panose="020B0604030504040204" pitchFamily="34" charset="0"/>
                  <a:ea typeface="微软雅黑" panose="020B0503020204020204" pitchFamily="34" charset="-122"/>
                </a:rPr>
                <a:t>结论展望</a:t>
              </a:r>
            </a:p>
          </p:txBody>
        </p:sp>
      </p:grpSp>
    </p:spTree>
    <p:extLst>
      <p:ext uri="{BB962C8B-B14F-4D97-AF65-F5344CB8AC3E}">
        <p14:creationId xmlns:p14="http://schemas.microsoft.com/office/powerpoint/2010/main" val="2528650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结论展望</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1820269E-A65D-4808-BD4F-25158FD22325}"/>
              </a:ext>
            </a:extLst>
          </p:cNvPr>
          <p:cNvSpPr txBox="1"/>
          <p:nvPr/>
        </p:nvSpPr>
        <p:spPr>
          <a:xfrm>
            <a:off x="584684" y="771550"/>
            <a:ext cx="5688632" cy="4031873"/>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b="1" kern="100" dirty="0">
                <a:effectLst/>
                <a:latin typeface="等线" panose="02010600030101010101" pitchFamily="2" charset="-122"/>
                <a:ea typeface="宋体" panose="02010600030101010101" pitchFamily="2" charset="-122"/>
                <a:cs typeface="Times New Roman" panose="02020603050405020304" pitchFamily="18" charset="0"/>
              </a:rPr>
              <a:t>结论：</a:t>
            </a:r>
            <a:endParaRPr lang="en-US" altLang="zh-CN" sz="1600" b="1" kern="100" dirty="0">
              <a:effectLst/>
              <a:latin typeface="等线" panose="02010600030101010101" pitchFamily="2" charset="-122"/>
              <a:ea typeface="宋体" panose="02010600030101010101" pitchFamily="2" charset="-122"/>
              <a:cs typeface="Times New Roman" panose="02020603050405020304" pitchFamily="18" charset="0"/>
            </a:endParaRPr>
          </a:p>
          <a:p>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对于中心化的网络，几种算法精度差别不大，而此时</a:t>
            </a:r>
            <a:r>
              <a:rPr lang="en-US" altLang="zh-CN" sz="1600" kern="100" dirty="0" err="1">
                <a:effectLst/>
                <a:latin typeface="等线" panose="02010600030101010101" pitchFamily="2" charset="-122"/>
                <a:ea typeface="宋体" panose="02010600030101010101" pitchFamily="2" charset="-122"/>
                <a:cs typeface="Times New Roman" panose="02020603050405020304" pitchFamily="18" charset="0"/>
              </a:rPr>
              <a:t>SybilRank</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要花费更多的时间；而对于分布式网络，</a:t>
            </a:r>
            <a:r>
              <a:rPr lang="en-US" altLang="zh-CN" sz="1600" kern="100" dirty="0" err="1">
                <a:effectLst/>
                <a:latin typeface="等线" panose="02010600030101010101" pitchFamily="2" charset="-122"/>
                <a:ea typeface="宋体" panose="02010600030101010101" pitchFamily="2" charset="-122"/>
                <a:cs typeface="Times New Roman" panose="02020603050405020304" pitchFamily="18" charset="0"/>
              </a:rPr>
              <a:t>SybilRank</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在牺牲一些检测时间的基础上拥有较好的检测结果。所以我们在选用算法时需要根据网络结构灵活决定。</a:t>
            </a:r>
            <a:endPar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endParaRPr>
          </a:p>
          <a:p>
            <a:r>
              <a:rPr lang="zh-CN" altLang="en-US" sz="1600" kern="100" dirty="0">
                <a:latin typeface="等线" panose="02010600030101010101" pitchFamily="2" charset="-122"/>
                <a:cs typeface="Times New Roman" panose="02020603050405020304" pitchFamily="18" charset="0"/>
              </a:rPr>
              <a:t>     在此基础上，我们引入用户行为，对用户进行了画像，使用</a:t>
            </a:r>
            <a:r>
              <a:rPr lang="en-US" altLang="zh-CN" sz="1600" kern="100" dirty="0">
                <a:latin typeface="等线" panose="02010600030101010101" pitchFamily="2" charset="-122"/>
                <a:cs typeface="Times New Roman" panose="02020603050405020304" pitchFamily="18" charset="0"/>
              </a:rPr>
              <a:t>KNN</a:t>
            </a:r>
            <a:r>
              <a:rPr lang="zh-CN" altLang="en-US" sz="1600" kern="100" dirty="0">
                <a:latin typeface="等线" panose="02010600030101010101" pitchFamily="2" charset="-122"/>
                <a:cs typeface="Times New Roman" panose="02020603050405020304" pitchFamily="18" charset="0"/>
              </a:rPr>
              <a:t>和朴素贝叶斯等机器学习分类手段对用户进行了判别。与之前的网络图检测算法相结合，算法效率与准确度取得了较大的提高。</a:t>
            </a:r>
            <a:endParaRPr lang="zh-CN" altLang="en-US" sz="1600" dirty="0"/>
          </a:p>
          <a:p>
            <a:pPr marL="285750" indent="-285750">
              <a:buFont typeface="Wingdings" panose="05000000000000000000" pitchFamily="2" charset="2"/>
              <a:buChar char="Ø"/>
            </a:pPr>
            <a:r>
              <a:rPr lang="zh-CN" altLang="en-US" sz="1600" b="1" dirty="0"/>
              <a:t>展望：</a:t>
            </a:r>
            <a:endParaRPr lang="en-US" altLang="zh-CN" sz="1600" b="1" dirty="0"/>
          </a:p>
          <a:p>
            <a:r>
              <a:rPr lang="zh-CN" altLang="en-US" sz="1600" dirty="0"/>
              <a:t>     接下来的工作中，我们打算进一步深化用户行为检测的算法。在进一步调研中我们发现</a:t>
            </a:r>
            <a:r>
              <a:rPr lang="en-US" altLang="zh-CN" sz="1600" dirty="0"/>
              <a:t>Zhou Q</a:t>
            </a:r>
            <a:r>
              <a:rPr lang="zh-CN" altLang="en-US" sz="1600" dirty="0"/>
              <a:t>等人使用受害者预测模型来提高检测精度，这是一个全新的角度，站在被攻击对象的角度建模，估计哪些用户是潜在的被攻击对象，及时向他们发出危险警报，这在未来的女巫攻击团伙检测中将是一个全新的发展方向。</a:t>
            </a:r>
            <a:endParaRPr lang="en-US" altLang="zh-CN" sz="1600" dirty="0"/>
          </a:p>
        </p:txBody>
      </p:sp>
      <p:sp>
        <p:nvSpPr>
          <p:cNvPr id="4" name="文本框 3">
            <a:extLst>
              <a:ext uri="{FF2B5EF4-FFF2-40B4-BE49-F238E27FC236}">
                <a16:creationId xmlns:a16="http://schemas.microsoft.com/office/drawing/2014/main" id="{5568CF1F-3339-45E8-8CAC-4E8D6692F26C}"/>
              </a:ext>
            </a:extLst>
          </p:cNvPr>
          <p:cNvSpPr txBox="1"/>
          <p:nvPr/>
        </p:nvSpPr>
        <p:spPr>
          <a:xfrm>
            <a:off x="6260692" y="4536458"/>
            <a:ext cx="624692" cy="369332"/>
          </a:xfrm>
          <a:prstGeom prst="rect">
            <a:avLst/>
          </a:prstGeom>
          <a:noFill/>
        </p:spPr>
        <p:txBody>
          <a:bodyPr wrap="square" rtlCol="0">
            <a:spAutoFit/>
          </a:bodyPr>
          <a:lstStyle/>
          <a:p>
            <a:r>
              <a:rPr lang="en-US" altLang="zh-CN" dirty="0"/>
              <a:t>17</a:t>
            </a:r>
            <a:endParaRPr lang="zh-CN" altLang="en-US" dirty="0"/>
          </a:p>
        </p:txBody>
      </p:sp>
    </p:spTree>
    <p:extLst>
      <p:ext uri="{BB962C8B-B14F-4D97-AF65-F5344CB8AC3E}">
        <p14:creationId xmlns:p14="http://schemas.microsoft.com/office/powerpoint/2010/main" val="1214081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Box 5"/>
          <p:cNvSpPr txBox="1">
            <a:spLocks noChangeArrowheads="1"/>
          </p:cNvSpPr>
          <p:nvPr/>
        </p:nvSpPr>
        <p:spPr bwMode="auto">
          <a:xfrm>
            <a:off x="-95681" y="1635646"/>
            <a:ext cx="7045541" cy="1440160"/>
          </a:xfrm>
          <a:prstGeom prst="rect">
            <a:avLst/>
          </a:prstGeom>
          <a:solidFill>
            <a:srgbClr val="325AA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ts val="4500"/>
              </a:lnSpc>
            </a:pPr>
            <a:endParaRPr lang="zh-CN" altLang="en-US" sz="3600">
              <a:solidFill>
                <a:schemeClr val="bg1"/>
              </a:solidFill>
              <a:latin typeface="微软雅黑" panose="020B0503020204020204" pitchFamily="34" charset="-122"/>
              <a:ea typeface="微软雅黑" panose="020B0503020204020204" pitchFamily="34" charset="-122"/>
            </a:endParaRPr>
          </a:p>
        </p:txBody>
      </p:sp>
      <p:sp>
        <p:nvSpPr>
          <p:cNvPr id="48131" name="矩形 6"/>
          <p:cNvSpPr>
            <a:spLocks noChangeArrowheads="1"/>
          </p:cNvSpPr>
          <p:nvPr/>
        </p:nvSpPr>
        <p:spPr bwMode="auto">
          <a:xfrm>
            <a:off x="-1910" y="2037349"/>
            <a:ext cx="6858000" cy="616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ts val="4500"/>
              </a:lnSpc>
            </a:pPr>
            <a:r>
              <a:rPr lang="zh-CN" altLang="en-US" sz="30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谢谢</a:t>
            </a:r>
            <a:r>
              <a:rPr lang="en-US" altLang="zh-CN" sz="30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a:t>
            </a:r>
          </a:p>
        </p:txBody>
      </p:sp>
    </p:spTree>
    <p:extLst>
      <p:ext uri="{BB962C8B-B14F-4D97-AF65-F5344CB8AC3E}">
        <p14:creationId xmlns:p14="http://schemas.microsoft.com/office/powerpoint/2010/main" val="1378716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CFE5CC-F88A-2F44-8F09-915B12C7BEA4}"/>
              </a:ext>
            </a:extLst>
          </p:cNvPr>
          <p:cNvSpPr txBox="1"/>
          <p:nvPr/>
        </p:nvSpPr>
        <p:spPr>
          <a:xfrm>
            <a:off x="620688" y="195486"/>
            <a:ext cx="6237312" cy="415498"/>
          </a:xfrm>
          <a:prstGeom prst="rect">
            <a:avLst/>
          </a:prstGeom>
          <a:noFill/>
        </p:spPr>
        <p:txBody>
          <a:bodyPr wrap="square" rtlCol="0">
            <a:spAutoFit/>
          </a:bodyPr>
          <a:lstStyle/>
          <a:p>
            <a:pPr defTabSz="685800">
              <a:defRPr/>
            </a:pPr>
            <a:r>
              <a:rPr lang="zh-CN" altLang="en-US" sz="2100" kern="0" dirty="0">
                <a:solidFill>
                  <a:srgbClr val="1557AE"/>
                </a:solidFill>
                <a:latin typeface="微软雅黑" panose="020B0503020204020204" pitchFamily="34" charset="-122"/>
                <a:ea typeface="微软雅黑" panose="020B0503020204020204" pitchFamily="34" charset="-122"/>
              </a:rPr>
              <a:t>参考文献</a:t>
            </a:r>
            <a:endParaRPr lang="en-US" altLang="zh-CN" sz="2100" kern="0" dirty="0">
              <a:solidFill>
                <a:srgbClr val="1557AE"/>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9D1A220E-944E-4DF1-92AD-4AEB59E22B30}"/>
              </a:ext>
            </a:extLst>
          </p:cNvPr>
          <p:cNvSpPr txBox="1"/>
          <p:nvPr/>
        </p:nvSpPr>
        <p:spPr>
          <a:xfrm>
            <a:off x="310344" y="911727"/>
            <a:ext cx="6237312" cy="3323987"/>
          </a:xfrm>
          <a:prstGeom prst="rect">
            <a:avLst/>
          </a:prstGeom>
          <a:noFill/>
        </p:spPr>
        <p:txBody>
          <a:bodyPr wrap="square">
            <a:spAutoFit/>
          </a:bodyPr>
          <a:lstStyle/>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 Douceur J R. The Sybil Attack[C]. international workshop on peer to peer systems, 2002: 251-260.</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[2] Davis C R , Fernandez J M , Neville S , et al. Sybil attacks as a mitigation strategy against the Storm botnet[C]// International Conference on Malicious &amp; Unwanted Software. IEEE Computer Society, 2008.</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l"/>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[3] Mohsen K.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BrightID</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Anti-Sybil[EB/OL]. [2020.11.06].https://github.com/</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BrightID</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BrightID-AntiSybil</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[4]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Valarmathi</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M L,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Meenakowshalya</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 Bharathi A, et al. Robust Sybil attack detection mechanism for Social Networks - a survey[C]. international conference on advanced computing, 2016: 1-5.</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[5]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Gunturu</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R. Survey of Sybil Attacks in Social Networks.[J].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arXiv</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Cryptography and Security, 2015.</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[6] Garg R, Sharma H. Prevention Techniques for Sybil Attack[C]. international conference on bioinformatics, 2012, 11(10): 3060-3064.</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[7] Yu H, Kaminsky M, Gibbons P B, et al.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SybilGuard</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defending against sybil attacks via social networks[C].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acm</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special interest group on data communication, 2006, 36(4): 267-278.</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[8] Yu H, Gibbons P B, Kaminsky M, et al.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SybilLimit</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 Near-Optimal Social Network Defense against Sybil Attacks[C].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ieee</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symposium on security and privacy, 2008: 3-17.</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[9] Cao Q ,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Sirivianos</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M , Yang X , et al. Aiding the Detection of Fake Accounts in Large Scale Social Online Services[C]// </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Usenix</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Conference on Networked Systems Design &amp; Implementation. USENIX Association, 2012.</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050" kern="100" dirty="0">
                <a:effectLst/>
                <a:latin typeface="等线" panose="02010600030101010101" pitchFamily="2" charset="-122"/>
                <a:ea typeface="宋体" panose="02010600030101010101" pitchFamily="2" charset="-122"/>
                <a:cs typeface="Times New Roman" panose="02020603050405020304" pitchFamily="18" charset="0"/>
              </a:rPr>
              <a:t>谈磊</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050" kern="100" dirty="0">
                <a:effectLst/>
                <a:latin typeface="等线" panose="02010600030101010101" pitchFamily="2" charset="-122"/>
                <a:ea typeface="宋体" panose="02010600030101010101" pitchFamily="2" charset="-122"/>
                <a:cs typeface="Times New Roman" panose="02020603050405020304" pitchFamily="18" charset="0"/>
              </a:rPr>
              <a:t>连一峰</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050" kern="100" dirty="0">
                <a:effectLst/>
                <a:latin typeface="等线" panose="02010600030101010101" pitchFamily="2" charset="-122"/>
                <a:ea typeface="宋体" panose="02010600030101010101" pitchFamily="2" charset="-122"/>
                <a:cs typeface="Times New Roman" panose="02020603050405020304" pitchFamily="18" charset="0"/>
              </a:rPr>
              <a:t>陈恺</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050" kern="100" dirty="0">
                <a:effectLst/>
                <a:latin typeface="等线" panose="02010600030101010101" pitchFamily="2" charset="-122"/>
                <a:ea typeface="宋体" panose="02010600030101010101" pitchFamily="2" charset="-122"/>
                <a:cs typeface="Times New Roman" panose="02020603050405020304" pitchFamily="18" charset="0"/>
              </a:rPr>
              <a:t>基于复合分类模型的社交网络恶意用户识别方法</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[J]. </a:t>
            </a:r>
            <a:r>
              <a:rPr lang="zh-CN" altLang="zh-CN" sz="1050" kern="100" dirty="0">
                <a:effectLst/>
                <a:latin typeface="等线" panose="02010600030101010101" pitchFamily="2" charset="-122"/>
                <a:ea typeface="宋体" panose="02010600030101010101" pitchFamily="2" charset="-122"/>
                <a:cs typeface="Times New Roman" panose="02020603050405020304" pitchFamily="18" charset="0"/>
              </a:rPr>
              <a:t>计算机应用与软件</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2012(12):1-5.</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l"/>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[11] Zhou Q, Chen G. An Efficient Victim Prediction for Sybil Detection in Online Social Network. [J]. IEEE Access. 2020: PP. 1-1. 10.1109/ACCESS.2020.3007458.</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7DA54395-1D23-4E1E-ADD5-DBA3BC693122}"/>
              </a:ext>
            </a:extLst>
          </p:cNvPr>
          <p:cNvSpPr txBox="1"/>
          <p:nvPr/>
        </p:nvSpPr>
        <p:spPr>
          <a:xfrm>
            <a:off x="6260692" y="4536458"/>
            <a:ext cx="624692" cy="369332"/>
          </a:xfrm>
          <a:prstGeom prst="rect">
            <a:avLst/>
          </a:prstGeom>
          <a:noFill/>
        </p:spPr>
        <p:txBody>
          <a:bodyPr wrap="square" rtlCol="0">
            <a:spAutoFit/>
          </a:bodyPr>
          <a:lstStyle/>
          <a:p>
            <a:r>
              <a:rPr lang="en-US" altLang="zh-CN" dirty="0"/>
              <a:t>19</a:t>
            </a:r>
            <a:endParaRPr lang="zh-CN" altLang="en-US" dirty="0"/>
          </a:p>
        </p:txBody>
      </p:sp>
    </p:spTree>
    <p:extLst>
      <p:ext uri="{BB962C8B-B14F-4D97-AF65-F5344CB8AC3E}">
        <p14:creationId xmlns:p14="http://schemas.microsoft.com/office/powerpoint/2010/main" val="2863322124"/>
      </p:ext>
    </p:extLst>
  </p:cSld>
  <p:clrMapOvr>
    <a:masterClrMapping/>
  </p:clrMapOvr>
</p:sld>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默认设计模板">
      <a:majorFont>
        <a:latin typeface="Tahoma"/>
        <a:ea typeface="黑体"/>
        <a:cs typeface=""/>
      </a:majorFont>
      <a:minorFont>
        <a:latin typeface="Tahom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1" i="0" u="none" strike="noStrike" cap="none" normalizeH="0" baseline="0" smtClean="0">
            <a:ln>
              <a:noFill/>
            </a:ln>
            <a:solidFill>
              <a:schemeClr val="bg1"/>
            </a:solidFill>
            <a:effectLst/>
            <a:latin typeface="黑体" pitchFamily="49" charset="-122"/>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1" i="0" u="none" strike="noStrike" cap="none" normalizeH="0" baseline="0" smtClean="0">
            <a:ln>
              <a:noFill/>
            </a:ln>
            <a:solidFill>
              <a:schemeClr val="bg1"/>
            </a:solidFill>
            <a:effectLst/>
            <a:latin typeface="黑体" pitchFamily="49" charset="-122"/>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4622</TotalTime>
  <Words>2398</Words>
  <Application>Microsoft Office PowerPoint</Application>
  <PresentationFormat>自定义</PresentationFormat>
  <Paragraphs>228</Paragraphs>
  <Slides>19</Slides>
  <Notes>2</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19</vt:i4>
      </vt:variant>
    </vt:vector>
  </HeadingPairs>
  <TitlesOfParts>
    <vt:vector size="31" baseType="lpstr">
      <vt:lpstr>Adobe Caslon Pro Bold</vt:lpstr>
      <vt:lpstr>等线</vt:lpstr>
      <vt:lpstr>宋体</vt:lpstr>
      <vt:lpstr>微软雅黑</vt:lpstr>
      <vt:lpstr>Arial</vt:lpstr>
      <vt:lpstr>Calibri</vt:lpstr>
      <vt:lpstr>Cambria Math</vt:lpstr>
      <vt:lpstr>Tahoma</vt:lpstr>
      <vt:lpstr>Times New Roman</vt:lpstr>
      <vt:lpstr>Wingdings</vt:lpstr>
      <vt:lpstr>默认设计模板</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259</cp:revision>
  <dcterms:created xsi:type="dcterms:W3CDTF">2018-03-31T13:04:42Z</dcterms:created>
  <dcterms:modified xsi:type="dcterms:W3CDTF">2020-12-13T04:59:59Z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2052-10.1.0.7223</vt:lpwstr>
  </property>
</Properties>
</file>